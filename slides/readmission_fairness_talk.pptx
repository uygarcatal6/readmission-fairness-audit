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A hospital can follow up only a few of its discharged diabetic patients and wants a model to choose who. I asked two questions: is any model usable at that fixed capacity, and are its errors shared equally across sex, age band and race? The answers up front: no model passes the usability gate. The clearest disparity is by age. The two post-processors that close it do so by lowering true-positive rates: levelling down, not a fix. And the race differences in recorded glucose results are largely, not wholly, a recording pattern of the data source.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hospital ranks every discharged patient by predicted risk and flags the top q percent, where q is the readmission rate of the training data, about 0.114. That fixes the number of follow-up slots without reading any test label. The fairness goal is equalized odds: every group should have the same true-positive rate among patients who really come back, and the same false-positive rate among those who do not. The approved proposal fixed a usability gate before the protocol was run: the model counts as usable only if the lower confidence bound of accuracy minus the no-information rate, 0.886, is above zero. With about 11 percent readmitted, that means a PPV above one half: most flags must be right.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are the public Diabetes 130-US Hospitals file from the UCI repository. After removing deaths and hospice discharges, unknown sex, missing primary diagnosis and patients under 20, we keep 98,470 encounters from 69,303 patients; 11,266 of them were readmitted within 30 days. Many patients come back several times, so the folds are grouped by patient: the same person is never in training and test at once. We use 5 folds, repeated 5 times. Encoding and scaling are fitted on training rows only, tree depth and k are chosen by the one-standard-error rule on inner patient folds, and every interval comes from 1,000 bootstrap draws over patients.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approved models in black, two course extensions in grey. The random forest has the highest ROC-AUC, 0.665, with gradient boosting at 0.664, inside its interval. That is clearly better than chance, and its PR-AUC is about 1.9 times the prevalence. But at the capacity rule the forest's true-positive rate and PPV are both 0.252: only about one flag in four is a real readmission. Accuracy minus the no-information rate is −0.0566, and the whole interval is below zero. So the gate fails for all 34 approved model and rule combinations, and the extensions fail too; the closest is the top five percent, with a PPV of 0.307. I still audit fairness, because a hospital that ranks patients still distributes errors.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audit of the random forest at the capacity rule: each dot is a group's true-positive rate, left, and false-positive rate, right. Age band stands out. Its equalized-odds difference is 0.257, against 0.030 expected by chance from a permutation null, and no shuffle reached it. Readmitted patients aged 20 to 39 are flagged 0.468 of the time, those over 80 only 0.211. Sex and race stay within their nulls; race Unknown is a missing code, left out. The Hispanic versus Caucasian difference alone has an interval above zero, but that extreme pair is chosen after seeing the data; the permutation null allows for that choice. The age gap is not base rates or calibration, and logistic regression and k-NN show about half of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the age gap come from? Mainly from ranking quality. Within their own group, the model separates readmitted young patients with ROC-AUC 0.755, but patients over 80 with only 0.616. At the overall false-positive rate their true-positive rates would be 0.383 and 0.201: most of the gap. The shared cut-off adds 0.085 to the young. I also refitted the forest without one block of inputs at a time, against the same ROC-AUC loss at random. Removing the prior-use counts moves the gap most, to 0.080, well beyond the random reference, but by lowering young patients' true-positive rate: no remedy. Removing age narrows it less, to 0.187, and the other inputs still predict age band with ROC-AUC 0.773, so unawareness does not remove the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tried four mitigations, each against its unconstrained counterpart under the same rule. Kamiran-Calders reweighing widens the gap, to 0.293. Cell balancing narrows it, but balancing race cells narrows the age gap even more, so it works mostly by balancing the classes. The two post-processors do close it. Equalized-odds post-processing at capacity, an addition, is compared with the same model flagging as many: the gap falls from 0.250 to 0.018, but in the right panel young patients' true-positive rate falls from 0.457 to 0.222, while the over-80s stay at about 0.204. ThresholdOptimizer is compared with one Youden threshold; both flag about 36 percent, the hollow markers, and every age band falls. Neither post-processor raises any age band's TPR against its twin: levelling down, not a fix.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measurement. The data record whether an HbA1c or glucose result exists, a proxy for an ordered test. A logistic model relates that to sex, age band and race, adjusting for the primary diagnosis. For glucose, African American patients have lower odds and Hispanic patients higher odds than Caucasian patients. But 79.7 percent of all glucose results come from the 10.2 percent of encounters whose admission type is unknown, a recording pattern of the source. With that indicator, a sensitivity fit added after seeing the results, the Hispanic excess falls to 1.10, indistinguishable from one, while the African American deficit shrinks to 0.58 but remains. So the gap is largely, not wholly, a recording pattern, and on their own the odds ratios are not evidence of unequal care.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do not use this model as a stand-alone classifier: only about one flag in four is right, and the agreed gate needs more than one in two. Second, if it still allocates follow-ups by the ranking, it should report the true-positive rate by age band next to overall performance, because older patients are the ones the model misses. Third, imposing equal true-positive rates is a policy choice with a cost: here it means catching fewer young patients without catching more old ones. Finally, better information on older patients' prior care, and complete recording of admission type and lab results, may do more for equal errors than post-processing, although I did not test that.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public file does not identify the hospital or the period, so standard errors and the bootstrap are clustered by patient only, although the recording analysis shows that the source matters. The intervals are conditional on the fitted models. A recorded result is only a proxy for an ordered test. And the method changed: a new proposal was approved during the project. Open choices were fixed in writing before the results they affect, with one exception, the admission-type sensitivity fit. Next, I would validate on data that identify hospital and period, try to improve the ranking for older patients instead of post-processing, and agree the capacity q with the hospital, reporting the whole capacity curve, already computed from 5 to 30 percent. Thank you.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backup slide, in case you ask about reproducibility. The pipeline is five scripts run in order: the cohort and the models, then the fairness audit, the mitigations, the source analysis and the recording model. Each writes a report and a JSON summary. Every outer split is saved as a checkpoint together with a fingerprint of the settings, the prediction code and the cohort; a checkpoint that does not match is refused, never mixed with new results. A Colab notebook fits one outer split live and redraws every table and figure from the saved JSON files. For the approved protocol, pytest collects 86 tests. The paper's figures and these slides are built by scripts from the same JSON files, so no number on a slide was typed by hand.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554480"/>
            <a:ext cx="10241280" cy="1097280"/>
          </a:xfrm>
          <a:prstGeom prst="rect">
            <a:avLst/>
          </a:prstGeom>
          <a:noFill/>
        </p:spPr>
        <p:txBody>
          <a:bodyPr wrap="square" anchor="b" lIns="36576" rIns="36576" tIns="36576" bIns="36576">
            <a:spAutoFit/>
          </a:bodyPr>
          <a:lstStyle/>
          <a:p>
            <a:pPr algn="l">
              <a:lnSpc>
                <a:spcPct val="100000"/>
              </a:lnSpc>
              <a:spcAft>
                <a:spcPts val="0"/>
              </a:spcAft>
            </a:pPr>
            <a:r>
              <a:rPr sz="4800" b="1">
                <a:solidFill>
                  <a:srgbClr val="1A1A1A"/>
                </a:solidFill>
                <a:latin typeface="Calibri"/>
              </a:rPr>
              <a:t>Who gets flagged?</a:t>
            </a:r>
          </a:p>
        </p:txBody>
      </p:sp>
      <p:sp>
        <p:nvSpPr>
          <p:cNvPr id="4" name="TextBox 3"/>
          <p:cNvSpPr txBox="1"/>
          <p:nvPr/>
        </p:nvSpPr>
        <p:spPr>
          <a:xfrm>
            <a:off x="1005840" y="2697480"/>
            <a:ext cx="10241280" cy="1097280"/>
          </a:xfrm>
          <a:prstGeom prst="rect">
            <a:avLst/>
          </a:prstGeom>
          <a:noFill/>
        </p:spPr>
        <p:txBody>
          <a:bodyPr wrap="square" anchor="t" lIns="36576" rIns="36576" tIns="36576" bIns="36576">
            <a:spAutoFit/>
          </a:bodyPr>
          <a:lstStyle/>
          <a:p>
            <a:pPr algn="l">
              <a:lnSpc>
                <a:spcPct val="100000"/>
              </a:lnSpc>
              <a:spcAft>
                <a:spcPts val="600"/>
              </a:spcAft>
            </a:pPr>
            <a:r>
              <a:rPr sz="2600" b="0">
                <a:solidFill>
                  <a:srgbClr val="0072B2"/>
                </a:solidFill>
                <a:latin typeface="Calibri"/>
              </a:rPr>
              <a:t>A CRISP-DM fairness audit of 30-day readmission prediction</a:t>
            </a:r>
          </a:p>
          <a:p>
            <a:pPr algn="l">
              <a:lnSpc>
                <a:spcPct val="100000"/>
              </a:lnSpc>
              <a:spcAft>
                <a:spcPts val="600"/>
              </a:spcAft>
            </a:pPr>
            <a:r>
              <a:rPr sz="2600" b="0">
                <a:solidFill>
                  <a:srgbClr val="0072B2"/>
                </a:solidFill>
                <a:latin typeface="Calibri"/>
              </a:rPr>
              <a:t>UCI Diabetes 130-US Hospitals</a:t>
            </a:r>
          </a:p>
        </p:txBody>
      </p:sp>
      <p:sp>
        <p:nvSpPr>
          <p:cNvPr id="5" name="Rectangle 4"/>
          <p:cNvSpPr/>
          <p:nvPr/>
        </p:nvSpPr>
        <p:spPr>
          <a:xfrm>
            <a:off x="1005840" y="4114800"/>
            <a:ext cx="1188720" cy="6400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389120"/>
            <a:ext cx="10241280" cy="1280160"/>
          </a:xfrm>
          <a:prstGeom prst="rect">
            <a:avLst/>
          </a:prstGeom>
          <a:noFill/>
        </p:spPr>
        <p:txBody>
          <a:bodyPr wrap="square" anchor="t" lIns="36576" rIns="36576" tIns="36576" bIns="36576">
            <a:spAutoFit/>
          </a:bodyPr>
          <a:lstStyle/>
          <a:p>
            <a:pPr algn="l">
              <a:lnSpc>
                <a:spcPct val="100000"/>
              </a:lnSpc>
              <a:spcAft>
                <a:spcPts val="600"/>
              </a:spcAft>
            </a:pPr>
            <a:r>
              <a:rPr sz="2000" b="0">
                <a:solidFill>
                  <a:srgbClr val="5F5F5F"/>
                </a:solidFill>
                <a:latin typeface="Calibri"/>
              </a:rPr>
              <a:t>Uygar Çatal</a:t>
            </a:r>
          </a:p>
          <a:p>
            <a:pPr algn="l">
              <a:lnSpc>
                <a:spcPct val="100000"/>
              </a:lnSpc>
              <a:spcAft>
                <a:spcPts val="600"/>
              </a:spcAft>
            </a:pPr>
            <a:r>
              <a:rPr sz="2000" b="0">
                <a:solidFill>
                  <a:srgbClr val="5F5F5F"/>
                </a:solidFill>
                <a:latin typeface="Calibri"/>
              </a:rPr>
              <a:t>Machine Learning and Data Mining · University of Bologna · A.Y. 2026/27</a:t>
            </a:r>
          </a:p>
          <a:p>
            <a:pPr algn="l">
              <a:lnSpc>
                <a:spcPct val="100000"/>
              </a:lnSpc>
              <a:spcAft>
                <a:spcPts val="600"/>
              </a:spcAft>
            </a:pPr>
            <a:r>
              <a:rPr sz="2000" b="0">
                <a:solidFill>
                  <a:srgbClr val="5F5F5F"/>
                </a:solidFill>
                <a:latin typeface="Calibri"/>
              </a:rPr>
              <a:t>Individual assignment · Option 2 (CRISP-DM)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868680"/>
          </a:xfrm>
          <a:prstGeom prst="rect">
            <a:avLst/>
          </a:prstGeom>
          <a:noFill/>
        </p:spPr>
        <p:txBody>
          <a:bodyPr wrap="square" anchor="b" lIns="36576" rIns="36576" tIns="36576" bIns="36576">
            <a:spAutoFit/>
          </a:bodyPr>
          <a:lstStyle/>
          <a:p>
            <a:pPr algn="l">
              <a:lnSpc>
                <a:spcPct val="100000"/>
              </a:lnSpc>
              <a:spcAft>
                <a:spcPts val="0"/>
              </a:spcAft>
            </a:pPr>
            <a:r>
              <a:rPr sz="3000" b="1">
                <a:solidFill>
                  <a:srgbClr val="1A1A1A"/>
                </a:solidFill>
                <a:latin typeface="Calibri"/>
              </a:rPr>
              <a:t>The question: who gets the few follow-up slots?</a:t>
            </a:r>
          </a:p>
        </p:txBody>
      </p:sp>
      <p:sp>
        <p:nvSpPr>
          <p:cNvPr id="3" name="Rectangle 2"/>
          <p:cNvSpPr/>
          <p:nvPr/>
        </p:nvSpPr>
        <p:spPr>
          <a:xfrm>
            <a:off x="548640" y="1243584"/>
            <a:ext cx="1188720" cy="6400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9601200" cy="320040"/>
          </a:xfrm>
          <a:prstGeom prst="rect">
            <a:avLst/>
          </a:prstGeom>
          <a:noFill/>
        </p:spPr>
        <p:txBody>
          <a:bodyPr wrap="square" anchor="t" lIns="36576" rIns="36576" tIns="36576" bIns="36576">
            <a:spAutoFit/>
          </a:bodyPr>
          <a:lstStyle/>
          <a:p>
            <a:pPr algn="l">
              <a:lnSpc>
                <a:spcPct val="100000"/>
              </a:lnSpc>
              <a:spcAft>
                <a:spcPts val="0"/>
              </a:spcAft>
            </a:pPr>
            <a:r>
              <a:rPr sz="1200" b="0">
                <a:solidFill>
                  <a:srgbClr val="5F5F5F"/>
                </a:solidFill>
                <a:latin typeface="Calibri"/>
              </a:rPr>
              <a:t>Source: docs/APPROVED_PROPOSAL.md §2; approved_main.md header; approved_mitigation.md §3 note</a:t>
            </a:r>
          </a:p>
        </p:txBody>
      </p:sp>
      <p:sp>
        <p:nvSpPr>
          <p:cNvPr id="5" name="Rectangle 4"/>
          <p:cNvSpPr/>
          <p:nvPr/>
        </p:nvSpPr>
        <p:spPr>
          <a:xfrm>
            <a:off x="548640" y="1600200"/>
            <a:ext cx="3429000" cy="2240280"/>
          </a:xfrm>
          <a:prstGeom prst="rect">
            <a:avLst/>
          </a:prstGeom>
          <a:solidFill>
            <a:srgbClr val="E8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00200"/>
            <a:ext cx="3429000" cy="56692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00200"/>
            <a:ext cx="3154680" cy="566928"/>
          </a:xfrm>
          <a:prstGeom prst="rect">
            <a:avLst/>
          </a:prstGeom>
          <a:noFill/>
        </p:spPr>
        <p:txBody>
          <a:bodyPr wrap="square" anchor="ctr" lIns="36576" rIns="36576" tIns="36576" bIns="36576">
            <a:spAutoFit/>
          </a:bodyPr>
          <a:lstStyle/>
          <a:p>
            <a:pPr algn="l">
              <a:lnSpc>
                <a:spcPct val="100000"/>
              </a:lnSpc>
              <a:spcAft>
                <a:spcPts val="0"/>
              </a:spcAft>
            </a:pPr>
            <a:r>
              <a:rPr sz="2200" b="1">
                <a:solidFill>
                  <a:srgbClr val="FFFFFF"/>
                </a:solidFill>
                <a:latin typeface="Calibri"/>
              </a:rPr>
              <a:t>1  Rank</a:t>
            </a:r>
          </a:p>
        </p:txBody>
      </p:sp>
      <p:sp>
        <p:nvSpPr>
          <p:cNvPr id="8" name="TextBox 7"/>
          <p:cNvSpPr txBox="1"/>
          <p:nvPr/>
        </p:nvSpPr>
        <p:spPr>
          <a:xfrm>
            <a:off x="685800" y="2286000"/>
            <a:ext cx="3154680" cy="1463040"/>
          </a:xfrm>
          <a:prstGeom prst="rect">
            <a:avLst/>
          </a:prstGeom>
          <a:noFill/>
        </p:spPr>
        <p:txBody>
          <a:bodyPr wrap="square" anchor="t" lIns="36576" rIns="36576" tIns="36576" bIns="36576">
            <a:spAutoFit/>
          </a:bodyPr>
          <a:lstStyle/>
          <a:p>
            <a:pPr algn="l">
              <a:lnSpc>
                <a:spcPct val="100000"/>
              </a:lnSpc>
              <a:spcAft>
                <a:spcPts val="0"/>
              </a:spcAft>
            </a:pPr>
            <a:r>
              <a:rPr sz="2000" b="0">
                <a:solidFill>
                  <a:srgbClr val="1A1A1A"/>
                </a:solidFill>
                <a:latin typeface="Calibri"/>
              </a:rPr>
              <a:t>every discharged diabetic inpatient by predicted 30-day readmission risk</a:t>
            </a:r>
          </a:p>
        </p:txBody>
      </p:sp>
      <p:sp>
        <p:nvSpPr>
          <p:cNvPr id="9" name="Right Arrow 8"/>
          <p:cNvSpPr/>
          <p:nvPr/>
        </p:nvSpPr>
        <p:spPr>
          <a:xfrm>
            <a:off x="4041648" y="2514600"/>
            <a:ext cx="260604" cy="411480"/>
          </a:xfrm>
          <a:prstGeom prst="rightArrow">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6260" y="1600200"/>
            <a:ext cx="3429000" cy="2240280"/>
          </a:xfrm>
          <a:prstGeom prst="rect">
            <a:avLst/>
          </a:prstGeom>
          <a:solidFill>
            <a:srgbClr val="E8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66260" y="1600200"/>
            <a:ext cx="3429000" cy="56692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3420" y="1600200"/>
            <a:ext cx="3154680" cy="566928"/>
          </a:xfrm>
          <a:prstGeom prst="rect">
            <a:avLst/>
          </a:prstGeom>
          <a:noFill/>
        </p:spPr>
        <p:txBody>
          <a:bodyPr wrap="square" anchor="ctr" lIns="36576" rIns="36576" tIns="36576" bIns="36576">
            <a:spAutoFit/>
          </a:bodyPr>
          <a:lstStyle/>
          <a:p>
            <a:pPr algn="l">
              <a:lnSpc>
                <a:spcPct val="100000"/>
              </a:lnSpc>
              <a:spcAft>
                <a:spcPts val="0"/>
              </a:spcAft>
            </a:pPr>
            <a:r>
              <a:rPr sz="2200" b="1">
                <a:solidFill>
                  <a:srgbClr val="FFFFFF"/>
                </a:solidFill>
                <a:latin typeface="Calibri"/>
              </a:rPr>
              <a:t>2  Flag the top q %</a:t>
            </a:r>
          </a:p>
        </p:txBody>
      </p:sp>
      <p:sp>
        <p:nvSpPr>
          <p:cNvPr id="13" name="TextBox 12"/>
          <p:cNvSpPr txBox="1"/>
          <p:nvPr/>
        </p:nvSpPr>
        <p:spPr>
          <a:xfrm>
            <a:off x="4503420" y="2286000"/>
            <a:ext cx="3154680" cy="1463040"/>
          </a:xfrm>
          <a:prstGeom prst="rect">
            <a:avLst/>
          </a:prstGeom>
          <a:noFill/>
        </p:spPr>
        <p:txBody>
          <a:bodyPr wrap="square" anchor="t" lIns="36576" rIns="36576" tIns="36576" bIns="36576">
            <a:spAutoFit/>
          </a:bodyPr>
          <a:lstStyle/>
          <a:p>
            <a:pPr algn="l">
              <a:lnSpc>
                <a:spcPct val="100000"/>
              </a:lnSpc>
              <a:spcAft>
                <a:spcPts val="0"/>
              </a:spcAft>
            </a:pPr>
            <a:r>
              <a:rPr sz="2000" b="0">
                <a:solidFill>
                  <a:srgbClr val="1A1A1A"/>
                </a:solidFill>
                <a:latin typeface="Calibri"/>
              </a:rPr>
              <a:t>q = training-fold readmission rate (overall </a:t>
            </a:r>
            <a:r>
              <a:rPr sz="2000" b="1">
                <a:solidFill>
                  <a:srgbClr val="0072B2"/>
                </a:solidFill>
                <a:latin typeface="Calibri"/>
              </a:rPr>
              <a:t>0.114</a:t>
            </a:r>
            <a:r>
              <a:rPr sz="2000" b="0">
                <a:solidFill>
                  <a:srgbClr val="1A1A1A"/>
                </a:solidFill>
                <a:latin typeface="Calibri"/>
              </a:rPr>
              <a:t>): a fixed follow-up capacity</a:t>
            </a:r>
          </a:p>
        </p:txBody>
      </p:sp>
      <p:sp>
        <p:nvSpPr>
          <p:cNvPr id="14" name="Right Arrow 13"/>
          <p:cNvSpPr/>
          <p:nvPr/>
        </p:nvSpPr>
        <p:spPr>
          <a:xfrm>
            <a:off x="7859268" y="2514600"/>
            <a:ext cx="260604" cy="411480"/>
          </a:xfrm>
          <a:prstGeom prst="rightArrow">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83880" y="1600200"/>
            <a:ext cx="3429000" cy="2240280"/>
          </a:xfrm>
          <a:prstGeom prst="rect">
            <a:avLst/>
          </a:prstGeom>
          <a:solidFill>
            <a:srgbClr val="E8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83880" y="1600200"/>
            <a:ext cx="3429000" cy="56692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1600200"/>
            <a:ext cx="3154680" cy="566928"/>
          </a:xfrm>
          <a:prstGeom prst="rect">
            <a:avLst/>
          </a:prstGeom>
          <a:noFill/>
        </p:spPr>
        <p:txBody>
          <a:bodyPr wrap="square" anchor="ctr" lIns="36576" rIns="36576" tIns="36576" bIns="36576">
            <a:spAutoFit/>
          </a:bodyPr>
          <a:lstStyle/>
          <a:p>
            <a:pPr algn="l">
              <a:lnSpc>
                <a:spcPct val="100000"/>
              </a:lnSpc>
              <a:spcAft>
                <a:spcPts val="0"/>
              </a:spcAft>
            </a:pPr>
            <a:r>
              <a:rPr sz="2200" b="1">
                <a:solidFill>
                  <a:srgbClr val="FFFFFF"/>
                </a:solidFill>
                <a:latin typeface="Calibri"/>
              </a:rPr>
              <a:t>3  Audit the errors</a:t>
            </a:r>
          </a:p>
        </p:txBody>
      </p:sp>
      <p:sp>
        <p:nvSpPr>
          <p:cNvPr id="18" name="TextBox 17"/>
          <p:cNvSpPr txBox="1"/>
          <p:nvPr/>
        </p:nvSpPr>
        <p:spPr>
          <a:xfrm>
            <a:off x="8321040" y="2286000"/>
            <a:ext cx="3154680" cy="1463040"/>
          </a:xfrm>
          <a:prstGeom prst="rect">
            <a:avLst/>
          </a:prstGeom>
          <a:noFill/>
        </p:spPr>
        <p:txBody>
          <a:bodyPr wrap="square" anchor="t" lIns="36576" rIns="36576" tIns="36576" bIns="36576">
            <a:spAutoFit/>
          </a:bodyPr>
          <a:lstStyle/>
          <a:p>
            <a:pPr algn="l">
              <a:lnSpc>
                <a:spcPct val="100000"/>
              </a:lnSpc>
              <a:spcAft>
                <a:spcPts val="0"/>
              </a:spcAft>
            </a:pPr>
            <a:r>
              <a:rPr sz="2000" b="0">
                <a:solidFill>
                  <a:srgbClr val="1A1A1A"/>
                </a:solidFill>
                <a:latin typeface="Calibri"/>
              </a:rPr>
              <a:t>equal TPR and FPR across sex, age band and race (equalized odds)</a:t>
            </a:r>
          </a:p>
        </p:txBody>
      </p:sp>
      <p:sp>
        <p:nvSpPr>
          <p:cNvPr id="19" name="Rectangle 18"/>
          <p:cNvSpPr/>
          <p:nvPr/>
        </p:nvSpPr>
        <p:spPr>
          <a:xfrm>
            <a:off x="548640" y="4160520"/>
            <a:ext cx="11094415" cy="1920240"/>
          </a:xfrm>
          <a:prstGeom prst="rect">
            <a:avLst/>
          </a:prstGeom>
          <a:solidFill>
            <a:srgbClr val="FFFFFF"/>
          </a:solidFill>
          <a:ln w="2540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389120"/>
            <a:ext cx="10637215" cy="1463040"/>
          </a:xfrm>
          <a:prstGeom prst="rect">
            <a:avLst/>
          </a:prstGeom>
          <a:noFill/>
        </p:spPr>
        <p:txBody>
          <a:bodyPr wrap="square" anchor="ctr" lIns="36576" rIns="36576" tIns="36576" bIns="36576">
            <a:spAutoFit/>
          </a:bodyPr>
          <a:lstStyle/>
          <a:p>
            <a:pPr algn="l">
              <a:lnSpc>
                <a:spcPct val="100000"/>
              </a:lnSpc>
              <a:spcAft>
                <a:spcPts val="400"/>
              </a:spcAft>
            </a:pPr>
            <a:r>
              <a:rPr sz="2000" b="1">
                <a:solidFill>
                  <a:srgbClr val="0072B2"/>
                </a:solidFill>
                <a:latin typeface="Calibri"/>
              </a:rPr>
              <a:t>Usability gate</a:t>
            </a:r>
            <a:r>
              <a:rPr sz="2000" b="0">
                <a:solidFill>
                  <a:srgbClr val="1A1A1A"/>
                </a:solidFill>
                <a:latin typeface="Calibri"/>
              </a:rPr>
              <a:t> (fixed in the approved proposal, before the approved protocol was run): usable only if the lower 95 % bound of accuracy − NIR (0.886) is &gt; 0.</a:t>
            </a:r>
          </a:p>
          <a:p>
            <a:pPr algn="l">
              <a:lnSpc>
                <a:spcPct val="100000"/>
              </a:lnSpc>
              <a:spcAft>
                <a:spcPts val="400"/>
              </a:spcAft>
            </a:pPr>
            <a:r>
              <a:rPr sz="2000" b="0">
                <a:solidFill>
                  <a:srgbClr val="1A1A1A"/>
                </a:solidFill>
                <a:latin typeface="Calibri"/>
              </a:rPr>
              <a:t>With m flagged, accuracy − NIR = (2·TP − m) / n, so the gate needs </a:t>
            </a:r>
            <a:r>
              <a:rPr sz="2000" b="1">
                <a:solidFill>
                  <a:srgbClr val="0072B2"/>
                </a:solidFill>
                <a:latin typeface="Calibri"/>
              </a:rPr>
              <a:t>PPV &gt; 0.5</a:t>
            </a:r>
            <a:r>
              <a:rPr sz="2000" b="0">
                <a:solidFill>
                  <a:srgbClr val="1A1A1A"/>
                </a:solidFill>
                <a:latin typeface="Calibri"/>
              </a:rPr>
              <a:t>: most flags must be right.</a:t>
            </a:r>
          </a:p>
        </p:txBody>
      </p:sp>
      <p:sp>
        <p:nvSpPr>
          <p:cNvPr id="21" name="TextBox 20"/>
          <p:cNvSpPr txBox="1"/>
          <p:nvPr/>
        </p:nvSpPr>
        <p:spPr>
          <a:xfrm>
            <a:off x="10545775" y="6400800"/>
            <a:ext cx="1097280" cy="320040"/>
          </a:xfrm>
          <a:prstGeom prst="rect">
            <a:avLst/>
          </a:prstGeom>
          <a:noFill/>
        </p:spPr>
        <p:txBody>
          <a:bodyPr wrap="square" anchor="t" lIns="36576" rIns="36576" tIns="36576" bIns="36576">
            <a:spAutoFit/>
          </a:bodyPr>
          <a:lstStyle/>
          <a:p>
            <a:pPr algn="r">
              <a:lnSpc>
                <a:spcPct val="100000"/>
              </a:lnSpc>
              <a:spcAft>
                <a:spcPts val="0"/>
              </a:spcAft>
            </a:pPr>
            <a:r>
              <a:rPr sz="1200" b="0">
                <a:solidFill>
                  <a:srgbClr val="5F5F5F"/>
                </a:solidFill>
                <a:latin typeface="Calibri"/>
              </a:rPr>
              <a:t>2 /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868680"/>
          </a:xfrm>
          <a:prstGeom prst="rect">
            <a:avLst/>
          </a:prstGeom>
          <a:noFill/>
        </p:spPr>
        <p:txBody>
          <a:bodyPr wrap="square" anchor="b" lIns="36576" rIns="36576" tIns="36576" bIns="36576">
            <a:spAutoFit/>
          </a:bodyPr>
          <a:lstStyle/>
          <a:p>
            <a:pPr algn="l">
              <a:lnSpc>
                <a:spcPct val="100000"/>
              </a:lnSpc>
              <a:spcAft>
                <a:spcPts val="0"/>
              </a:spcAft>
            </a:pPr>
            <a:r>
              <a:rPr sz="3000" b="1">
                <a:solidFill>
                  <a:srgbClr val="1A1A1A"/>
                </a:solidFill>
                <a:latin typeface="Calibri"/>
              </a:rPr>
              <a:t>Data and pipeline: CRISP-DM, validated patient by patient</a:t>
            </a:r>
          </a:p>
        </p:txBody>
      </p:sp>
      <p:sp>
        <p:nvSpPr>
          <p:cNvPr id="3" name="Rectangle 2"/>
          <p:cNvSpPr/>
          <p:nvPr/>
        </p:nvSpPr>
        <p:spPr>
          <a:xfrm>
            <a:off x="548640" y="1243584"/>
            <a:ext cx="1188720" cy="6400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9601200" cy="320040"/>
          </a:xfrm>
          <a:prstGeom prst="rect">
            <a:avLst/>
          </a:prstGeom>
          <a:noFill/>
        </p:spPr>
        <p:txBody>
          <a:bodyPr wrap="square" anchor="t" lIns="36576" rIns="36576" tIns="36576" bIns="36576">
            <a:spAutoFit/>
          </a:bodyPr>
          <a:lstStyle/>
          <a:p>
            <a:pPr algn="l">
              <a:lnSpc>
                <a:spcPct val="100000"/>
              </a:lnSpc>
              <a:spcAft>
                <a:spcPts val="0"/>
              </a:spcAft>
            </a:pPr>
            <a:r>
              <a:rPr sz="1200" b="0">
                <a:solidFill>
                  <a:srgbClr val="5F5F5F"/>
                </a:solidFill>
                <a:latin typeface="Calibri"/>
              </a:rPr>
              <a:t>Source: approved_main.md header; approved_fairness.md §1; approved_sources.md block table</a:t>
            </a:r>
          </a:p>
        </p:txBody>
      </p:sp>
      <p:sp>
        <p:nvSpPr>
          <p:cNvPr id="5" name="Pentagon 4"/>
          <p:cNvSpPr/>
          <p:nvPr/>
        </p:nvSpPr>
        <p:spPr>
          <a:xfrm>
            <a:off x="548640" y="1572768"/>
            <a:ext cx="3017520" cy="731520"/>
          </a:xfrm>
          <a:prstGeom prst="homePlat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1645920"/>
            <a:ext cx="2871216" cy="585216"/>
          </a:xfrm>
          <a:prstGeom prst="rect">
            <a:avLst/>
          </a:prstGeom>
          <a:noFill/>
        </p:spPr>
        <p:txBody>
          <a:bodyPr wrap="square" anchor="ctr" lIns="36576" rIns="36576" tIns="36576" bIns="36576">
            <a:spAutoFit/>
          </a:bodyPr>
          <a:lstStyle/>
          <a:p>
            <a:pPr algn="l">
              <a:lnSpc>
                <a:spcPct val="100000"/>
              </a:lnSpc>
              <a:spcAft>
                <a:spcPts val="400"/>
              </a:spcAft>
            </a:pPr>
            <a:r>
              <a:rPr sz="2000" b="1">
                <a:solidFill>
                  <a:srgbClr val="FFFFFF"/>
                </a:solidFill>
                <a:latin typeface="Calibri"/>
              </a:rPr>
              <a:t>Business understanding</a:t>
            </a:r>
          </a:p>
        </p:txBody>
      </p:sp>
      <p:sp>
        <p:nvSpPr>
          <p:cNvPr id="7" name="Rectangle 6"/>
          <p:cNvSpPr/>
          <p:nvPr/>
        </p:nvSpPr>
        <p:spPr>
          <a:xfrm>
            <a:off x="3703320" y="1572768"/>
            <a:ext cx="7939735" cy="731520"/>
          </a:xfrm>
          <a:prstGeom prst="rect">
            <a:avLst/>
          </a:prstGeom>
          <a:solidFill>
            <a:srgbClr val="E8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76472" y="1645920"/>
            <a:ext cx="7793431" cy="585216"/>
          </a:xfrm>
          <a:prstGeom prst="rect">
            <a:avLst/>
          </a:prstGeom>
          <a:noFill/>
        </p:spPr>
        <p:txBody>
          <a:bodyPr wrap="square" anchor="ctr" lIns="36576" rIns="36576" tIns="36576" bIns="36576">
            <a:spAutoFit/>
          </a:bodyPr>
          <a:lstStyle/>
          <a:p>
            <a:pPr algn="l">
              <a:lnSpc>
                <a:spcPct val="100000"/>
              </a:lnSpc>
              <a:spcAft>
                <a:spcPts val="400"/>
              </a:spcAft>
            </a:pPr>
            <a:r>
              <a:rPr sz="2000" b="0">
                <a:solidFill>
                  <a:srgbClr val="1A1A1A"/>
                </a:solidFill>
                <a:latin typeface="Calibri"/>
              </a:rPr>
              <a:t>flag the top q % at a fixed capacity; equal errors by sex, age band, race</a:t>
            </a:r>
          </a:p>
        </p:txBody>
      </p:sp>
      <p:sp>
        <p:nvSpPr>
          <p:cNvPr id="9" name="Pentagon 8"/>
          <p:cNvSpPr/>
          <p:nvPr/>
        </p:nvSpPr>
        <p:spPr>
          <a:xfrm>
            <a:off x="548640" y="2368296"/>
            <a:ext cx="3017520" cy="731520"/>
          </a:xfrm>
          <a:prstGeom prst="homePlat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441448"/>
            <a:ext cx="2871216" cy="585216"/>
          </a:xfrm>
          <a:prstGeom prst="rect">
            <a:avLst/>
          </a:prstGeom>
          <a:noFill/>
        </p:spPr>
        <p:txBody>
          <a:bodyPr wrap="square" anchor="ctr" lIns="36576" rIns="36576" tIns="36576" bIns="36576">
            <a:spAutoFit/>
          </a:bodyPr>
          <a:lstStyle/>
          <a:p>
            <a:pPr algn="l">
              <a:lnSpc>
                <a:spcPct val="100000"/>
              </a:lnSpc>
              <a:spcAft>
                <a:spcPts val="400"/>
              </a:spcAft>
            </a:pPr>
            <a:r>
              <a:rPr sz="2000" b="1">
                <a:solidFill>
                  <a:srgbClr val="FFFFFF"/>
                </a:solidFill>
                <a:latin typeface="Calibri"/>
              </a:rPr>
              <a:t>Data understanding</a:t>
            </a:r>
          </a:p>
        </p:txBody>
      </p:sp>
      <p:sp>
        <p:nvSpPr>
          <p:cNvPr id="11" name="Rectangle 10"/>
          <p:cNvSpPr/>
          <p:nvPr/>
        </p:nvSpPr>
        <p:spPr>
          <a:xfrm>
            <a:off x="3703320" y="2368296"/>
            <a:ext cx="7939735" cy="731520"/>
          </a:xfrm>
          <a:prstGeom prst="rect">
            <a:avLst/>
          </a:prstGeom>
          <a:solidFill>
            <a:srgbClr val="E8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76472" y="2441448"/>
            <a:ext cx="7793431" cy="585216"/>
          </a:xfrm>
          <a:prstGeom prst="rect">
            <a:avLst/>
          </a:prstGeom>
          <a:noFill/>
        </p:spPr>
        <p:txBody>
          <a:bodyPr wrap="square" anchor="ctr" lIns="36576" rIns="36576" tIns="36576" bIns="36576">
            <a:spAutoFit/>
          </a:bodyPr>
          <a:lstStyle/>
          <a:p>
            <a:pPr algn="l">
              <a:lnSpc>
                <a:spcPct val="100000"/>
              </a:lnSpc>
              <a:spcAft>
                <a:spcPts val="400"/>
              </a:spcAft>
            </a:pPr>
            <a:r>
              <a:rPr sz="2000" b="1">
                <a:solidFill>
                  <a:srgbClr val="0072B2"/>
                </a:solidFill>
                <a:latin typeface="Calibri"/>
              </a:rPr>
              <a:t>98,470</a:t>
            </a:r>
            <a:r>
              <a:rPr sz="2000" b="0">
                <a:solidFill>
                  <a:srgbClr val="1A1A1A"/>
                </a:solidFill>
                <a:latin typeface="Calibri"/>
              </a:rPr>
              <a:t> encounters · </a:t>
            </a:r>
            <a:r>
              <a:rPr sz="2000" b="1">
                <a:solidFill>
                  <a:srgbClr val="0072B2"/>
                </a:solidFill>
                <a:latin typeface="Calibri"/>
              </a:rPr>
              <a:t>69,303</a:t>
            </a:r>
            <a:r>
              <a:rPr sz="2000" b="0">
                <a:solidFill>
                  <a:srgbClr val="1A1A1A"/>
                </a:solidFill>
                <a:latin typeface="Calibri"/>
              </a:rPr>
              <a:t> patients · </a:t>
            </a:r>
            <a:r>
              <a:rPr sz="2000" b="1">
                <a:solidFill>
                  <a:srgbClr val="0072B2"/>
                </a:solidFill>
                <a:latin typeface="Calibri"/>
              </a:rPr>
              <a:t>11,266</a:t>
            </a:r>
            <a:r>
              <a:rPr sz="2000" b="0">
                <a:solidFill>
                  <a:srgbClr val="1A1A1A"/>
                </a:solidFill>
                <a:latin typeface="Calibri"/>
              </a:rPr>
              <a:t> readmitted in 30 days (0.114)</a:t>
            </a:r>
          </a:p>
        </p:txBody>
      </p:sp>
      <p:sp>
        <p:nvSpPr>
          <p:cNvPr id="13" name="Pentagon 12"/>
          <p:cNvSpPr/>
          <p:nvPr/>
        </p:nvSpPr>
        <p:spPr>
          <a:xfrm>
            <a:off x="548640" y="3163824"/>
            <a:ext cx="3017520" cy="731520"/>
          </a:xfrm>
          <a:prstGeom prst="homePlat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236976"/>
            <a:ext cx="2871216" cy="585216"/>
          </a:xfrm>
          <a:prstGeom prst="rect">
            <a:avLst/>
          </a:prstGeom>
          <a:noFill/>
        </p:spPr>
        <p:txBody>
          <a:bodyPr wrap="square" anchor="ctr" lIns="36576" rIns="36576" tIns="36576" bIns="36576">
            <a:spAutoFit/>
          </a:bodyPr>
          <a:lstStyle/>
          <a:p>
            <a:pPr algn="l">
              <a:lnSpc>
                <a:spcPct val="100000"/>
              </a:lnSpc>
              <a:spcAft>
                <a:spcPts val="400"/>
              </a:spcAft>
            </a:pPr>
            <a:r>
              <a:rPr sz="2000" b="1">
                <a:solidFill>
                  <a:srgbClr val="FFFFFF"/>
                </a:solidFill>
                <a:latin typeface="Calibri"/>
              </a:rPr>
              <a:t>Data preparation</a:t>
            </a:r>
          </a:p>
        </p:txBody>
      </p:sp>
      <p:sp>
        <p:nvSpPr>
          <p:cNvPr id="15" name="Rectangle 14"/>
          <p:cNvSpPr/>
          <p:nvPr/>
        </p:nvSpPr>
        <p:spPr>
          <a:xfrm>
            <a:off x="3703320" y="3163824"/>
            <a:ext cx="7939735" cy="731520"/>
          </a:xfrm>
          <a:prstGeom prst="rect">
            <a:avLst/>
          </a:prstGeom>
          <a:solidFill>
            <a:srgbClr val="E8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6472" y="3236976"/>
            <a:ext cx="7793431" cy="585216"/>
          </a:xfrm>
          <a:prstGeom prst="rect">
            <a:avLst/>
          </a:prstGeom>
          <a:noFill/>
        </p:spPr>
        <p:txBody>
          <a:bodyPr wrap="square" anchor="ctr" lIns="36576" rIns="36576" tIns="36576" bIns="36576">
            <a:spAutoFit/>
          </a:bodyPr>
          <a:lstStyle/>
          <a:p>
            <a:pPr algn="l">
              <a:lnSpc>
                <a:spcPct val="100000"/>
              </a:lnSpc>
              <a:spcAft>
                <a:spcPts val="400"/>
              </a:spcAft>
            </a:pPr>
            <a:r>
              <a:rPr sz="2000" b="0">
                <a:solidFill>
                  <a:srgbClr val="1A1A1A"/>
                </a:solidFill>
                <a:latin typeface="Calibri"/>
              </a:rPr>
              <a:t>23 inputs in 6 blocks; encoding and scaling fitted on training rows only</a:t>
            </a:r>
          </a:p>
        </p:txBody>
      </p:sp>
      <p:sp>
        <p:nvSpPr>
          <p:cNvPr id="17" name="Pentagon 16"/>
          <p:cNvSpPr/>
          <p:nvPr/>
        </p:nvSpPr>
        <p:spPr>
          <a:xfrm>
            <a:off x="548640" y="3959352"/>
            <a:ext cx="3017520" cy="731520"/>
          </a:xfrm>
          <a:prstGeom prst="homePlat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4032504"/>
            <a:ext cx="2871216" cy="585216"/>
          </a:xfrm>
          <a:prstGeom prst="rect">
            <a:avLst/>
          </a:prstGeom>
          <a:noFill/>
        </p:spPr>
        <p:txBody>
          <a:bodyPr wrap="square" anchor="ctr" lIns="36576" rIns="36576" tIns="36576" bIns="36576">
            <a:spAutoFit/>
          </a:bodyPr>
          <a:lstStyle/>
          <a:p>
            <a:pPr algn="l">
              <a:lnSpc>
                <a:spcPct val="100000"/>
              </a:lnSpc>
              <a:spcAft>
                <a:spcPts val="400"/>
              </a:spcAft>
            </a:pPr>
            <a:r>
              <a:rPr sz="2000" b="1">
                <a:solidFill>
                  <a:srgbClr val="FFFFFF"/>
                </a:solidFill>
                <a:latin typeface="Calibri"/>
              </a:rPr>
              <a:t>Modelling</a:t>
            </a:r>
          </a:p>
        </p:txBody>
      </p:sp>
      <p:sp>
        <p:nvSpPr>
          <p:cNvPr id="19" name="Rectangle 18"/>
          <p:cNvSpPr/>
          <p:nvPr/>
        </p:nvSpPr>
        <p:spPr>
          <a:xfrm>
            <a:off x="3703320" y="3959352"/>
            <a:ext cx="7939735" cy="731520"/>
          </a:xfrm>
          <a:prstGeom prst="rect">
            <a:avLst/>
          </a:prstGeom>
          <a:solidFill>
            <a:srgbClr val="E8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76472" y="4032504"/>
            <a:ext cx="7793431" cy="585216"/>
          </a:xfrm>
          <a:prstGeom prst="rect">
            <a:avLst/>
          </a:prstGeom>
          <a:noFill/>
        </p:spPr>
        <p:txBody>
          <a:bodyPr wrap="square" anchor="ctr" lIns="36576" rIns="36576" tIns="36576" bIns="36576">
            <a:spAutoFit/>
          </a:bodyPr>
          <a:lstStyle/>
          <a:p>
            <a:pPr algn="l">
              <a:lnSpc>
                <a:spcPct val="100000"/>
              </a:lnSpc>
              <a:spcAft>
                <a:spcPts val="400"/>
              </a:spcAft>
            </a:pPr>
            <a:r>
              <a:rPr sz="2000" b="0">
                <a:solidFill>
                  <a:srgbClr val="1A1A1A"/>
                </a:solidFill>
                <a:latin typeface="Calibri"/>
              </a:rPr>
              <a:t>tree, k-NN, logistic regression, random forest, gradient boosting; depth and k by the one-SE rule</a:t>
            </a:r>
          </a:p>
        </p:txBody>
      </p:sp>
      <p:sp>
        <p:nvSpPr>
          <p:cNvPr id="21" name="Pentagon 20"/>
          <p:cNvSpPr/>
          <p:nvPr/>
        </p:nvSpPr>
        <p:spPr>
          <a:xfrm>
            <a:off x="548640" y="4754880"/>
            <a:ext cx="3017520" cy="731520"/>
          </a:xfrm>
          <a:prstGeom prst="homePlat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4828032"/>
            <a:ext cx="2871216" cy="585216"/>
          </a:xfrm>
          <a:prstGeom prst="rect">
            <a:avLst/>
          </a:prstGeom>
          <a:noFill/>
        </p:spPr>
        <p:txBody>
          <a:bodyPr wrap="square" anchor="ctr" lIns="36576" rIns="36576" tIns="36576" bIns="36576">
            <a:spAutoFit/>
          </a:bodyPr>
          <a:lstStyle/>
          <a:p>
            <a:pPr algn="l">
              <a:lnSpc>
                <a:spcPct val="100000"/>
              </a:lnSpc>
              <a:spcAft>
                <a:spcPts val="400"/>
              </a:spcAft>
            </a:pPr>
            <a:r>
              <a:rPr sz="2000" b="1">
                <a:solidFill>
                  <a:srgbClr val="FFFFFF"/>
                </a:solidFill>
                <a:latin typeface="Calibri"/>
              </a:rPr>
              <a:t>Evaluation</a:t>
            </a:r>
          </a:p>
        </p:txBody>
      </p:sp>
      <p:sp>
        <p:nvSpPr>
          <p:cNvPr id="23" name="Rectangle 22"/>
          <p:cNvSpPr/>
          <p:nvPr/>
        </p:nvSpPr>
        <p:spPr>
          <a:xfrm>
            <a:off x="3703320" y="4754880"/>
            <a:ext cx="7939735" cy="731520"/>
          </a:xfrm>
          <a:prstGeom prst="rect">
            <a:avLst/>
          </a:prstGeom>
          <a:solidFill>
            <a:srgbClr val="E8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76472" y="4828032"/>
            <a:ext cx="7793431" cy="585216"/>
          </a:xfrm>
          <a:prstGeom prst="rect">
            <a:avLst/>
          </a:prstGeom>
          <a:noFill/>
        </p:spPr>
        <p:txBody>
          <a:bodyPr wrap="square" anchor="ctr" lIns="36576" rIns="36576" tIns="36576" bIns="36576">
            <a:spAutoFit/>
          </a:bodyPr>
          <a:lstStyle/>
          <a:p>
            <a:pPr algn="l">
              <a:lnSpc>
                <a:spcPct val="100000"/>
              </a:lnSpc>
              <a:spcAft>
                <a:spcPts val="400"/>
              </a:spcAft>
            </a:pPr>
            <a:r>
              <a:rPr sz="2000" b="1">
                <a:solidFill>
                  <a:srgbClr val="0072B2"/>
                </a:solidFill>
                <a:latin typeface="Calibri"/>
              </a:rPr>
              <a:t>patient-level</a:t>
            </a:r>
            <a:r>
              <a:rPr sz="2000" b="0">
                <a:solidFill>
                  <a:srgbClr val="1A1A1A"/>
                </a:solidFill>
                <a:latin typeface="Calibri"/>
              </a:rPr>
              <a:t> stratified 5-fold CV × 5 repeats; 1,000 bootstrap draws</a:t>
            </a:r>
          </a:p>
        </p:txBody>
      </p:sp>
      <p:sp>
        <p:nvSpPr>
          <p:cNvPr id="25" name="Pentagon 24"/>
          <p:cNvSpPr/>
          <p:nvPr/>
        </p:nvSpPr>
        <p:spPr>
          <a:xfrm>
            <a:off x="548640" y="5550408"/>
            <a:ext cx="3017520" cy="731520"/>
          </a:xfrm>
          <a:prstGeom prst="homePlat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5623560"/>
            <a:ext cx="2871216" cy="585216"/>
          </a:xfrm>
          <a:prstGeom prst="rect">
            <a:avLst/>
          </a:prstGeom>
          <a:noFill/>
        </p:spPr>
        <p:txBody>
          <a:bodyPr wrap="square" anchor="ctr" lIns="36576" rIns="36576" tIns="36576" bIns="36576">
            <a:spAutoFit/>
          </a:bodyPr>
          <a:lstStyle/>
          <a:p>
            <a:pPr algn="l">
              <a:lnSpc>
                <a:spcPct val="100000"/>
              </a:lnSpc>
              <a:spcAft>
                <a:spcPts val="400"/>
              </a:spcAft>
            </a:pPr>
            <a:r>
              <a:rPr sz="2000" b="1">
                <a:solidFill>
                  <a:srgbClr val="FFFFFF"/>
                </a:solidFill>
                <a:latin typeface="Calibri"/>
              </a:rPr>
              <a:t>Deployment</a:t>
            </a:r>
          </a:p>
        </p:txBody>
      </p:sp>
      <p:sp>
        <p:nvSpPr>
          <p:cNvPr id="27" name="Rectangle 26"/>
          <p:cNvSpPr/>
          <p:nvPr/>
        </p:nvSpPr>
        <p:spPr>
          <a:xfrm>
            <a:off x="3703320" y="5550408"/>
            <a:ext cx="7939735" cy="731520"/>
          </a:xfrm>
          <a:prstGeom prst="rect">
            <a:avLst/>
          </a:prstGeom>
          <a:solidFill>
            <a:srgbClr val="E8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76472" y="5623560"/>
            <a:ext cx="7793431" cy="585216"/>
          </a:xfrm>
          <a:prstGeom prst="rect">
            <a:avLst/>
          </a:prstGeom>
          <a:noFill/>
        </p:spPr>
        <p:txBody>
          <a:bodyPr wrap="square" anchor="ctr" lIns="36576" rIns="36576" tIns="36576" bIns="36576">
            <a:spAutoFit/>
          </a:bodyPr>
          <a:lstStyle/>
          <a:p>
            <a:pPr algn="l">
              <a:lnSpc>
                <a:spcPct val="100000"/>
              </a:lnSpc>
              <a:spcAft>
                <a:spcPts val="400"/>
              </a:spcAft>
            </a:pPr>
            <a:r>
              <a:rPr sz="2000" b="0">
                <a:solidFill>
                  <a:srgbClr val="1A1A1A"/>
                </a:solidFill>
                <a:latin typeface="Calibri"/>
              </a:rPr>
              <a:t>a recommendation for the hospital, with its limits (slide 9)</a:t>
            </a:r>
          </a:p>
        </p:txBody>
      </p:sp>
      <p:sp>
        <p:nvSpPr>
          <p:cNvPr id="29" name="TextBox 28"/>
          <p:cNvSpPr txBox="1"/>
          <p:nvPr/>
        </p:nvSpPr>
        <p:spPr>
          <a:xfrm>
            <a:off x="10545775" y="6400800"/>
            <a:ext cx="1097280" cy="320040"/>
          </a:xfrm>
          <a:prstGeom prst="rect">
            <a:avLst/>
          </a:prstGeom>
          <a:noFill/>
        </p:spPr>
        <p:txBody>
          <a:bodyPr wrap="square" anchor="t" lIns="36576" rIns="36576" tIns="36576" bIns="36576">
            <a:spAutoFit/>
          </a:bodyPr>
          <a:lstStyle/>
          <a:p>
            <a:pPr algn="r">
              <a:lnSpc>
                <a:spcPct val="100000"/>
              </a:lnSpc>
              <a:spcAft>
                <a:spcPts val="0"/>
              </a:spcAft>
            </a:pPr>
            <a:r>
              <a:rPr sz="1200" b="0">
                <a:solidFill>
                  <a:srgbClr val="5F5F5F"/>
                </a:solidFill>
                <a:latin typeface="Calibri"/>
              </a:rPr>
              <a:t>3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868680"/>
          </a:xfrm>
          <a:prstGeom prst="rect">
            <a:avLst/>
          </a:prstGeom>
          <a:noFill/>
        </p:spPr>
        <p:txBody>
          <a:bodyPr wrap="square" anchor="b" lIns="36576" rIns="36576" tIns="36576" bIns="36576">
            <a:spAutoFit/>
          </a:bodyPr>
          <a:lstStyle/>
          <a:p>
            <a:pPr algn="l">
              <a:lnSpc>
                <a:spcPct val="100000"/>
              </a:lnSpc>
              <a:spcAft>
                <a:spcPts val="0"/>
              </a:spcAft>
            </a:pPr>
            <a:r>
              <a:rPr sz="3000" b="1">
                <a:solidFill>
                  <a:srgbClr val="1A1A1A"/>
                </a:solidFill>
                <a:latin typeface="Calibri"/>
              </a:rPr>
              <a:t>Models rank better than chance, but none passes the usability gate</a:t>
            </a:r>
          </a:p>
        </p:txBody>
      </p:sp>
      <p:sp>
        <p:nvSpPr>
          <p:cNvPr id="3" name="Rectangle 2"/>
          <p:cNvSpPr/>
          <p:nvPr/>
        </p:nvSpPr>
        <p:spPr>
          <a:xfrm>
            <a:off x="548640" y="1243584"/>
            <a:ext cx="1188720" cy="6400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9601200" cy="320040"/>
          </a:xfrm>
          <a:prstGeom prst="rect">
            <a:avLst/>
          </a:prstGeom>
          <a:noFill/>
        </p:spPr>
        <p:txBody>
          <a:bodyPr wrap="square" anchor="t" lIns="36576" rIns="36576" tIns="36576" bIns="36576">
            <a:spAutoFit/>
          </a:bodyPr>
          <a:lstStyle/>
          <a:p>
            <a:pPr algn="l">
              <a:lnSpc>
                <a:spcPct val="100000"/>
              </a:lnSpc>
              <a:spcAft>
                <a:spcPts val="0"/>
              </a:spcAft>
            </a:pPr>
            <a:r>
              <a:rPr sz="1200" b="0">
                <a:solidFill>
                  <a:srgbClr val="5F5F5F"/>
                </a:solidFill>
                <a:latin typeface="Calibri"/>
              </a:rPr>
              <a:t>Source: approved_main.md §1–§3 · outputs/approved/summary.json · † = addition beyond the approved proposal</a:t>
            </a:r>
          </a:p>
        </p:txBody>
      </p:sp>
      <p:pic>
        <p:nvPicPr>
          <p:cNvPr id="5" name="Picture 4" descr="models.png"/>
          <p:cNvPicPr>
            <a:picLocks noChangeAspect="1"/>
          </p:cNvPicPr>
          <p:nvPr/>
        </p:nvPicPr>
        <p:blipFill>
          <a:blip r:embed="rId3"/>
          <a:stretch>
            <a:fillRect/>
          </a:stretch>
        </p:blipFill>
        <p:spPr>
          <a:xfrm>
            <a:off x="457200" y="1477265"/>
            <a:ext cx="6949440" cy="4406390"/>
          </a:xfrm>
          <a:prstGeom prst="rect">
            <a:avLst/>
          </a:prstGeom>
        </p:spPr>
      </p:pic>
      <p:sp>
        <p:nvSpPr>
          <p:cNvPr id="6" name="TextBox 5"/>
          <p:cNvSpPr txBox="1"/>
          <p:nvPr/>
        </p:nvSpPr>
        <p:spPr>
          <a:xfrm>
            <a:off x="548640" y="5916168"/>
            <a:ext cx="6949440" cy="365760"/>
          </a:xfrm>
          <a:prstGeom prst="rect">
            <a:avLst/>
          </a:prstGeom>
          <a:noFill/>
        </p:spPr>
        <p:txBody>
          <a:bodyPr wrap="square" anchor="t" lIns="36576" rIns="36576" tIns="36576" bIns="36576">
            <a:spAutoFit/>
          </a:bodyPr>
          <a:lstStyle/>
          <a:p>
            <a:pPr algn="ctr">
              <a:lnSpc>
                <a:spcPct val="100000"/>
              </a:lnSpc>
              <a:spcAft>
                <a:spcPts val="0"/>
              </a:spcAft>
            </a:pPr>
            <a:r>
              <a:rPr sz="1600" b="0">
                <a:solidFill>
                  <a:srgbClr val="5F5F5F"/>
                </a:solidFill>
                <a:latin typeface="Calibri"/>
              </a:rPr>
              <a:t>black = approved models, grey = course extensions†</a:t>
            </a:r>
          </a:p>
        </p:txBody>
      </p:sp>
      <p:sp>
        <p:nvSpPr>
          <p:cNvPr id="7" name="TextBox 6"/>
          <p:cNvSpPr txBox="1"/>
          <p:nvPr/>
        </p:nvSpPr>
        <p:spPr>
          <a:xfrm>
            <a:off x="7680960" y="1508760"/>
            <a:ext cx="3962095" cy="3703320"/>
          </a:xfrm>
          <a:prstGeom prst="rect">
            <a:avLst/>
          </a:prstGeom>
          <a:noFill/>
        </p:spPr>
        <p:txBody>
          <a:bodyPr wrap="square" anchor="t" lIns="36576" rIns="36576" tIns="36576" bIns="36576">
            <a:spAutoFit/>
          </a:bodyPr>
          <a:lstStyle/>
          <a:p>
            <a:pPr algn="l" marL="292608" indent="-292608">
              <a:lnSpc>
                <a:spcPct val="100000"/>
              </a:lnSpc>
              <a:spcAft>
                <a:spcPts val="1200"/>
              </a:spcAft>
              <a:buClr>
                <a:srgbClr val="0072B2"/>
              </a:buClr>
              <a:buFont typeface="Arial"/>
              <a:buChar char="•"/>
            </a:pPr>
            <a:r>
              <a:rPr sz="2000" b="0">
                <a:solidFill>
                  <a:srgbClr val="1A1A1A"/>
                </a:solidFill>
                <a:latin typeface="Calibri"/>
              </a:rPr>
              <a:t>Random forest: ROC-AUC </a:t>
            </a:r>
            <a:r>
              <a:rPr sz="2000" b="1">
                <a:solidFill>
                  <a:srgbClr val="0072B2"/>
                </a:solidFill>
                <a:latin typeface="Calibri"/>
              </a:rPr>
              <a:t>0.665</a:t>
            </a:r>
            <a:r>
              <a:rPr sz="2000" b="0">
                <a:solidFill>
                  <a:srgbClr val="1A1A1A"/>
                </a:solidFill>
                <a:latin typeface="Calibri"/>
              </a:rPr>
              <a:t> [0.659, 0.671]</a:t>
            </a:r>
          </a:p>
          <a:p>
            <a:pPr algn="l" marL="292608" indent="-292608">
              <a:lnSpc>
                <a:spcPct val="100000"/>
              </a:lnSpc>
              <a:spcAft>
                <a:spcPts val="1200"/>
              </a:spcAft>
              <a:buClr>
                <a:srgbClr val="0072B2"/>
              </a:buClr>
              <a:buFont typeface="Arial"/>
              <a:buChar char="•"/>
            </a:pPr>
            <a:r>
              <a:rPr sz="2000" b="0">
                <a:solidFill>
                  <a:srgbClr val="1A1A1A"/>
                </a:solidFill>
                <a:latin typeface="Calibri"/>
              </a:rPr>
              <a:t>PR-AUC </a:t>
            </a:r>
            <a:r>
              <a:rPr sz="2000" b="1">
                <a:solidFill>
                  <a:srgbClr val="0072B2"/>
                </a:solidFill>
                <a:latin typeface="Calibri"/>
              </a:rPr>
              <a:t>0.216</a:t>
            </a:r>
            <a:r>
              <a:rPr sz="2000" b="0">
                <a:solidFill>
                  <a:srgbClr val="1A1A1A"/>
                </a:solidFill>
                <a:latin typeface="Calibri"/>
              </a:rPr>
              <a:t>, 1.9× the prevalence (0.114)</a:t>
            </a:r>
          </a:p>
          <a:p>
            <a:pPr algn="l" marL="292608" indent="-292608">
              <a:lnSpc>
                <a:spcPct val="100000"/>
              </a:lnSpc>
              <a:spcAft>
                <a:spcPts val="1200"/>
              </a:spcAft>
              <a:buClr>
                <a:srgbClr val="0072B2"/>
              </a:buClr>
              <a:buFont typeface="Arial"/>
              <a:buChar char="•"/>
            </a:pPr>
            <a:r>
              <a:rPr sz="2000" b="0">
                <a:solidFill>
                  <a:srgbClr val="1A1A1A"/>
                </a:solidFill>
                <a:latin typeface="Calibri"/>
              </a:rPr>
              <a:t>At capacity: TPR = PPV = </a:t>
            </a:r>
            <a:r>
              <a:rPr sz="2000" b="1">
                <a:solidFill>
                  <a:srgbClr val="0072B2"/>
                </a:solidFill>
                <a:latin typeface="Calibri"/>
              </a:rPr>
              <a:t>0.252</a:t>
            </a:r>
          </a:p>
          <a:p>
            <a:pPr algn="l" marL="292608" indent="-292608">
              <a:lnSpc>
                <a:spcPct val="100000"/>
              </a:lnSpc>
              <a:spcAft>
                <a:spcPts val="1200"/>
              </a:spcAft>
              <a:buClr>
                <a:srgbClr val="0072B2"/>
              </a:buClr>
              <a:buFont typeface="Arial"/>
              <a:buChar char="•"/>
            </a:pPr>
            <a:r>
              <a:rPr sz="2000" b="0">
                <a:solidFill>
                  <a:srgbClr val="1A1A1A"/>
                </a:solidFill>
                <a:latin typeface="Calibri"/>
              </a:rPr>
              <a:t>Accuracy − NIR </a:t>
            </a:r>
            <a:r>
              <a:rPr sz="2000" b="1">
                <a:solidFill>
                  <a:srgbClr val="0072B2"/>
                </a:solidFill>
                <a:latin typeface="Calibri"/>
              </a:rPr>
              <a:t>−0.057</a:t>
            </a:r>
            <a:r>
              <a:rPr sz="2000" b="0">
                <a:solidFill>
                  <a:srgbClr val="1A1A1A"/>
                </a:solidFill>
                <a:latin typeface="Calibri"/>
              </a:rPr>
              <a:t> [−0.059, −0.054]</a:t>
            </a:r>
          </a:p>
          <a:p>
            <a:pPr algn="l" marL="292608" indent="-292608">
              <a:lnSpc>
                <a:spcPct val="100000"/>
              </a:lnSpc>
              <a:spcAft>
                <a:spcPts val="1200"/>
              </a:spcAft>
              <a:buClr>
                <a:srgbClr val="0072B2"/>
              </a:buClr>
              <a:buFont typeface="Arial"/>
              <a:buChar char="•"/>
            </a:pPr>
            <a:r>
              <a:rPr sz="2000" b="0">
                <a:solidFill>
                  <a:srgbClr val="1A1A1A"/>
                </a:solidFill>
                <a:latin typeface="Calibri"/>
              </a:rPr>
              <a:t>Closest rule (top 5 %): PPV 0.307, still below 0.5</a:t>
            </a:r>
          </a:p>
        </p:txBody>
      </p:sp>
      <p:sp>
        <p:nvSpPr>
          <p:cNvPr id="8" name="Rectangle 7"/>
          <p:cNvSpPr/>
          <p:nvPr/>
        </p:nvSpPr>
        <p:spPr>
          <a:xfrm>
            <a:off x="7680960" y="5303520"/>
            <a:ext cx="3962095" cy="96012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20" y="5440680"/>
            <a:ext cx="3687775" cy="685800"/>
          </a:xfrm>
          <a:prstGeom prst="rect">
            <a:avLst/>
          </a:prstGeom>
          <a:noFill/>
        </p:spPr>
        <p:txBody>
          <a:bodyPr wrap="square" anchor="ctr" lIns="36576" rIns="36576" tIns="36576" bIns="36576">
            <a:spAutoFit/>
          </a:bodyPr>
          <a:lstStyle/>
          <a:p>
            <a:pPr algn="ctr">
              <a:lnSpc>
                <a:spcPct val="100000"/>
              </a:lnSpc>
              <a:spcAft>
                <a:spcPts val="400"/>
              </a:spcAft>
            </a:pPr>
            <a:r>
              <a:rPr sz="2000" b="1">
                <a:solidFill>
                  <a:srgbClr val="FFFFFF"/>
                </a:solidFill>
                <a:latin typeface="Calibri"/>
              </a:rPr>
              <a:t>Gate fails: 0 of 34 approved model × rule pairs pass (extensions fail too)</a:t>
            </a:r>
          </a:p>
        </p:txBody>
      </p:sp>
      <p:sp>
        <p:nvSpPr>
          <p:cNvPr id="10" name="TextBox 9"/>
          <p:cNvSpPr txBox="1"/>
          <p:nvPr/>
        </p:nvSpPr>
        <p:spPr>
          <a:xfrm>
            <a:off x="10545775" y="6400800"/>
            <a:ext cx="1097280" cy="320040"/>
          </a:xfrm>
          <a:prstGeom prst="rect">
            <a:avLst/>
          </a:prstGeom>
          <a:noFill/>
        </p:spPr>
        <p:txBody>
          <a:bodyPr wrap="square" anchor="t" lIns="36576" rIns="36576" tIns="36576" bIns="36576">
            <a:spAutoFit/>
          </a:bodyPr>
          <a:lstStyle/>
          <a:p>
            <a:pPr algn="r">
              <a:lnSpc>
                <a:spcPct val="100000"/>
              </a:lnSpc>
              <a:spcAft>
                <a:spcPts val="0"/>
              </a:spcAft>
            </a:pPr>
            <a:r>
              <a:rPr sz="1200" b="0">
                <a:solidFill>
                  <a:srgbClr val="5F5F5F"/>
                </a:solidFill>
                <a:latin typeface="Calibri"/>
              </a:rPr>
              <a:t>4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868680"/>
          </a:xfrm>
          <a:prstGeom prst="rect">
            <a:avLst/>
          </a:prstGeom>
          <a:noFill/>
        </p:spPr>
        <p:txBody>
          <a:bodyPr wrap="square" anchor="b" lIns="36576" rIns="36576" tIns="36576" bIns="36576">
            <a:spAutoFit/>
          </a:bodyPr>
          <a:lstStyle/>
          <a:p>
            <a:pPr algn="l">
              <a:lnSpc>
                <a:spcPct val="100000"/>
              </a:lnSpc>
              <a:spcAft>
                <a:spcPts val="0"/>
              </a:spcAft>
            </a:pPr>
            <a:r>
              <a:rPr sz="3000" b="1">
                <a:solidFill>
                  <a:srgbClr val="1A1A1A"/>
                </a:solidFill>
                <a:latin typeface="Calibri"/>
              </a:rPr>
              <a:t>The errors differ by age, not clearly by sex or race</a:t>
            </a:r>
          </a:p>
        </p:txBody>
      </p:sp>
      <p:sp>
        <p:nvSpPr>
          <p:cNvPr id="3" name="Rectangle 2"/>
          <p:cNvSpPr/>
          <p:nvPr/>
        </p:nvSpPr>
        <p:spPr>
          <a:xfrm>
            <a:off x="548640" y="1243584"/>
            <a:ext cx="1188720" cy="6400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9601200" cy="320040"/>
          </a:xfrm>
          <a:prstGeom prst="rect">
            <a:avLst/>
          </a:prstGeom>
          <a:noFill/>
        </p:spPr>
        <p:txBody>
          <a:bodyPr wrap="square" anchor="t" lIns="36576" rIns="36576" tIns="36576" bIns="36576">
            <a:spAutoFit/>
          </a:bodyPr>
          <a:lstStyle/>
          <a:p>
            <a:pPr algn="l">
              <a:lnSpc>
                <a:spcPct val="100000"/>
              </a:lnSpc>
              <a:spcAft>
                <a:spcPts val="0"/>
              </a:spcAft>
            </a:pPr>
            <a:r>
              <a:rPr sz="1200" b="0">
                <a:solidFill>
                  <a:srgbClr val="5F5F5F"/>
                </a:solidFill>
                <a:latin typeface="Calibri"/>
              </a:rPr>
              <a:t>Source: approved_fairness.md §2, §3.2, §4 · outputs/approved/fairness.json · † = addition beyond the approved proposal</a:t>
            </a:r>
          </a:p>
        </p:txBody>
      </p:sp>
      <p:pic>
        <p:nvPicPr>
          <p:cNvPr id="5" name="Picture 4" descr="fairness.png"/>
          <p:cNvPicPr>
            <a:picLocks noChangeAspect="1"/>
          </p:cNvPicPr>
          <p:nvPr/>
        </p:nvPicPr>
        <p:blipFill>
          <a:blip r:embed="rId3"/>
          <a:stretch>
            <a:fillRect/>
          </a:stretch>
        </p:blipFill>
        <p:spPr>
          <a:xfrm>
            <a:off x="457200" y="1758084"/>
            <a:ext cx="6309360" cy="4256232"/>
          </a:xfrm>
          <a:prstGeom prst="rect">
            <a:avLst/>
          </a:prstGeom>
        </p:spPr>
      </p:pic>
      <p:sp>
        <p:nvSpPr>
          <p:cNvPr id="6" name="TextBox 5"/>
          <p:cNvSpPr txBox="1"/>
          <p:nvPr/>
        </p:nvSpPr>
        <p:spPr>
          <a:xfrm>
            <a:off x="7040880" y="1508760"/>
            <a:ext cx="4602175" cy="4846320"/>
          </a:xfrm>
          <a:prstGeom prst="rect">
            <a:avLst/>
          </a:prstGeom>
          <a:noFill/>
        </p:spPr>
        <p:txBody>
          <a:bodyPr wrap="square" anchor="t" lIns="36576" rIns="36576" tIns="36576" bIns="36576">
            <a:spAutoFit/>
          </a:bodyPr>
          <a:lstStyle/>
          <a:p>
            <a:pPr algn="l" marL="292608" indent="-292608">
              <a:lnSpc>
                <a:spcPct val="100000"/>
              </a:lnSpc>
              <a:spcAft>
                <a:spcPts val="1200"/>
              </a:spcAft>
              <a:buClr>
                <a:srgbClr val="0072B2"/>
              </a:buClr>
              <a:buFont typeface="Arial"/>
              <a:buChar char="•"/>
            </a:pPr>
            <a:r>
              <a:rPr sz="2000" b="0">
                <a:solidFill>
                  <a:srgbClr val="1A1A1A"/>
                </a:solidFill>
                <a:latin typeface="Calibri"/>
              </a:rPr>
              <a:t>Age band: EO difference </a:t>
            </a:r>
            <a:r>
              <a:rPr sz="2000" b="1">
                <a:solidFill>
                  <a:srgbClr val="0072B2"/>
                </a:solidFill>
                <a:latin typeface="Calibri"/>
              </a:rPr>
              <a:t>0.257</a:t>
            </a:r>
            <a:r>
              <a:rPr sz="2000" b="0">
                <a:solidFill>
                  <a:srgbClr val="1A1A1A"/>
                </a:solidFill>
                <a:latin typeface="Calibri"/>
              </a:rPr>
              <a:t> [0.192, 0.320]; permutation null† 0.030 (p = 0.005, the minimum for 200 shuffles)</a:t>
            </a:r>
          </a:p>
          <a:p>
            <a:pPr algn="l" marL="292608" indent="-292608">
              <a:lnSpc>
                <a:spcPct val="100000"/>
              </a:lnSpc>
              <a:spcAft>
                <a:spcPts val="1200"/>
              </a:spcAft>
              <a:buClr>
                <a:srgbClr val="0072B2"/>
              </a:buClr>
              <a:buFont typeface="Arial"/>
              <a:buChar char="•"/>
            </a:pPr>
            <a:r>
              <a:rPr sz="2000" b="0">
                <a:solidFill>
                  <a:srgbClr val="1A1A1A"/>
                </a:solidFill>
                <a:latin typeface="Calibri"/>
              </a:rPr>
              <a:t>TPR </a:t>
            </a:r>
            <a:r>
              <a:rPr sz="2000" b="1">
                <a:solidFill>
                  <a:srgbClr val="0072B2"/>
                </a:solidFill>
                <a:latin typeface="Calibri"/>
              </a:rPr>
              <a:t>0.468</a:t>
            </a:r>
            <a:r>
              <a:rPr sz="2000" b="0">
                <a:solidFill>
                  <a:srgbClr val="1A1A1A"/>
                </a:solidFill>
                <a:latin typeface="Calibri"/>
              </a:rPr>
              <a:t> at 20–39 vs </a:t>
            </a:r>
            <a:r>
              <a:rPr sz="2000" b="1">
                <a:solidFill>
                  <a:srgbClr val="0072B2"/>
                </a:solidFill>
                <a:latin typeface="Calibri"/>
              </a:rPr>
              <a:t>0.211</a:t>
            </a:r>
            <a:r>
              <a:rPr sz="2000" b="0">
                <a:solidFill>
                  <a:srgbClr val="1A1A1A"/>
                </a:solidFill>
                <a:latin typeface="Calibri"/>
              </a:rPr>
              <a:t> at 80+; the young are flagged more (0.174 vs 0.107–0.115)</a:t>
            </a:r>
          </a:p>
          <a:p>
            <a:pPr algn="l" marL="292608" indent="-292608">
              <a:lnSpc>
                <a:spcPct val="100000"/>
              </a:lnSpc>
              <a:spcAft>
                <a:spcPts val="1200"/>
              </a:spcAft>
              <a:buClr>
                <a:srgbClr val="0072B2"/>
              </a:buClr>
              <a:buFont typeface="Arial"/>
              <a:buChar char="•"/>
            </a:pPr>
            <a:r>
              <a:rPr sz="2000" b="0">
                <a:solidFill>
                  <a:srgbClr val="1A1A1A"/>
                </a:solidFill>
                <a:latin typeface="Calibri"/>
              </a:rPr>
              <a:t>Sex 0.016 (null 0.009); race 0.081 (null 0.094; “Unknown” = missing code, left out; 0.175 with it): within chance</a:t>
            </a:r>
          </a:p>
          <a:p>
            <a:pPr algn="l" marL="292608" indent="-292608">
              <a:lnSpc>
                <a:spcPct val="100000"/>
              </a:lnSpc>
              <a:spcAft>
                <a:spcPts val="1200"/>
              </a:spcAft>
              <a:buClr>
                <a:srgbClr val="0072B2"/>
              </a:buClr>
              <a:buFont typeface="Arial"/>
              <a:buChar char="•"/>
            </a:pPr>
            <a:r>
              <a:rPr sz="2000" b="0">
                <a:solidFill>
                  <a:srgbClr val="1A1A1A"/>
                </a:solidFill>
                <a:latin typeface="Calibri"/>
              </a:rPr>
              <a:t>Not base rates (0.101–0.125), not calibration (observed − predicted within ±0.004)</a:t>
            </a:r>
          </a:p>
        </p:txBody>
      </p:sp>
      <p:sp>
        <p:nvSpPr>
          <p:cNvPr id="7" name="TextBox 6"/>
          <p:cNvSpPr txBox="1"/>
          <p:nvPr/>
        </p:nvSpPr>
        <p:spPr>
          <a:xfrm>
            <a:off x="10545775" y="6400800"/>
            <a:ext cx="1097280" cy="320040"/>
          </a:xfrm>
          <a:prstGeom prst="rect">
            <a:avLst/>
          </a:prstGeom>
          <a:noFill/>
        </p:spPr>
        <p:txBody>
          <a:bodyPr wrap="square" anchor="t" lIns="36576" rIns="36576" tIns="36576" bIns="36576">
            <a:spAutoFit/>
          </a:bodyPr>
          <a:lstStyle/>
          <a:p>
            <a:pPr algn="r">
              <a:lnSpc>
                <a:spcPct val="100000"/>
              </a:lnSpc>
              <a:spcAft>
                <a:spcPts val="0"/>
              </a:spcAft>
            </a:pPr>
            <a:r>
              <a:rPr sz="1200" b="0">
                <a:solidFill>
                  <a:srgbClr val="5F5F5F"/>
                </a:solidFill>
                <a:latin typeface="Calibri"/>
              </a:rPr>
              <a:t>5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868680"/>
          </a:xfrm>
          <a:prstGeom prst="rect">
            <a:avLst/>
          </a:prstGeom>
          <a:noFill/>
        </p:spPr>
        <p:txBody>
          <a:bodyPr wrap="square" anchor="b" lIns="36576" rIns="36576" tIns="36576" bIns="36576">
            <a:spAutoFit/>
          </a:bodyPr>
          <a:lstStyle/>
          <a:p>
            <a:pPr algn="l">
              <a:lnSpc>
                <a:spcPct val="100000"/>
              </a:lnSpc>
              <a:spcAft>
                <a:spcPts val="0"/>
              </a:spcAft>
            </a:pPr>
            <a:r>
              <a:rPr sz="3000" b="1">
                <a:solidFill>
                  <a:srgbClr val="1A1A1A"/>
                </a:solidFill>
                <a:latin typeface="Calibri"/>
              </a:rPr>
              <a:t>The age gap comes mainly from ranking young patients better</a:t>
            </a:r>
          </a:p>
        </p:txBody>
      </p:sp>
      <p:sp>
        <p:nvSpPr>
          <p:cNvPr id="3" name="Rectangle 2"/>
          <p:cNvSpPr/>
          <p:nvPr/>
        </p:nvSpPr>
        <p:spPr>
          <a:xfrm>
            <a:off x="548640" y="1243584"/>
            <a:ext cx="1188720" cy="6400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9601200" cy="320040"/>
          </a:xfrm>
          <a:prstGeom prst="rect">
            <a:avLst/>
          </a:prstGeom>
          <a:noFill/>
        </p:spPr>
        <p:txBody>
          <a:bodyPr wrap="square" anchor="t" lIns="36576" rIns="36576" tIns="36576" bIns="36576">
            <a:spAutoFit/>
          </a:bodyPr>
          <a:lstStyle/>
          <a:p>
            <a:pPr algn="l">
              <a:lnSpc>
                <a:spcPct val="100000"/>
              </a:lnSpc>
              <a:spcAft>
                <a:spcPts val="0"/>
              </a:spcAft>
            </a:pPr>
            <a:r>
              <a:rPr sz="1200" b="0">
                <a:solidFill>
                  <a:srgbClr val="5F5F5F"/>
                </a:solidFill>
                <a:latin typeface="Calibri"/>
              </a:rPr>
              <a:t>Source: approved_sources.md §1–§5 · outputs/approved/sources.json · † = addition beyond the approved proposal</a:t>
            </a:r>
          </a:p>
        </p:txBody>
      </p:sp>
      <p:pic>
        <p:nvPicPr>
          <p:cNvPr id="5" name="Picture 4" descr="sources.png"/>
          <p:cNvPicPr>
            <a:picLocks noChangeAspect="1"/>
          </p:cNvPicPr>
          <p:nvPr/>
        </p:nvPicPr>
        <p:blipFill>
          <a:blip r:embed="rId3"/>
          <a:stretch>
            <a:fillRect/>
          </a:stretch>
        </p:blipFill>
        <p:spPr>
          <a:xfrm>
            <a:off x="457200" y="1470816"/>
            <a:ext cx="6583680" cy="4830767"/>
          </a:xfrm>
          <a:prstGeom prst="rect">
            <a:avLst/>
          </a:prstGeom>
        </p:spPr>
      </p:pic>
      <p:sp>
        <p:nvSpPr>
          <p:cNvPr id="6" name="TextBox 5"/>
          <p:cNvSpPr txBox="1"/>
          <p:nvPr/>
        </p:nvSpPr>
        <p:spPr>
          <a:xfrm>
            <a:off x="7315200" y="1508760"/>
            <a:ext cx="4327855" cy="4846320"/>
          </a:xfrm>
          <a:prstGeom prst="rect">
            <a:avLst/>
          </a:prstGeom>
          <a:noFill/>
        </p:spPr>
        <p:txBody>
          <a:bodyPr wrap="square" anchor="t" lIns="36576" rIns="36576" tIns="36576" bIns="36576">
            <a:spAutoFit/>
          </a:bodyPr>
          <a:lstStyle/>
          <a:p>
            <a:pPr algn="l" marL="292608" indent="-292608">
              <a:lnSpc>
                <a:spcPct val="100000"/>
              </a:lnSpc>
              <a:spcAft>
                <a:spcPts val="1200"/>
              </a:spcAft>
              <a:buClr>
                <a:srgbClr val="0072B2"/>
              </a:buClr>
              <a:buFont typeface="Arial"/>
              <a:buChar char="•"/>
            </a:pPr>
            <a:r>
              <a:rPr sz="2000" b="0">
                <a:solidFill>
                  <a:srgbClr val="1A1A1A"/>
                </a:solidFill>
                <a:latin typeface="Calibri"/>
              </a:rPr>
              <a:t>Ranked within their own group†, at the overall FPR: TPR </a:t>
            </a:r>
            <a:r>
              <a:rPr sz="2000" b="1">
                <a:solidFill>
                  <a:srgbClr val="0072B2"/>
                </a:solidFill>
                <a:latin typeface="Calibri"/>
              </a:rPr>
              <a:t>0.383</a:t>
            </a:r>
            <a:r>
              <a:rPr sz="2000" b="0">
                <a:solidFill>
                  <a:srgbClr val="1A1A1A"/>
                </a:solidFill>
                <a:latin typeface="Calibri"/>
              </a:rPr>
              <a:t> (20–39) vs </a:t>
            </a:r>
            <a:r>
              <a:rPr sz="2000" b="1">
                <a:solidFill>
                  <a:srgbClr val="0072B2"/>
                </a:solidFill>
                <a:latin typeface="Calibri"/>
              </a:rPr>
              <a:t>0.201</a:t>
            </a:r>
            <a:r>
              <a:rPr sz="2000" b="0">
                <a:solidFill>
                  <a:srgbClr val="1A1A1A"/>
                </a:solidFill>
                <a:latin typeface="Calibri"/>
              </a:rPr>
              <a:t> (80+), most of the 0.257 gap; the shared cut-off adds 0.085 to the young (ROC-AUC 0.755 vs 0.616)</a:t>
            </a:r>
          </a:p>
          <a:p>
            <a:pPr algn="l" marL="292608" indent="-292608">
              <a:lnSpc>
                <a:spcPct val="100000"/>
              </a:lnSpc>
              <a:spcAft>
                <a:spcPts val="1200"/>
              </a:spcAft>
              <a:buClr>
                <a:srgbClr val="0072B2"/>
              </a:buClr>
              <a:buFont typeface="Arial"/>
              <a:buChar char="•"/>
            </a:pPr>
            <a:r>
              <a:rPr sz="2000" b="0">
                <a:solidFill>
                  <a:srgbClr val="1A1A1A"/>
                </a:solidFill>
                <a:latin typeface="Calibri"/>
              </a:rPr>
              <a:t>Without prior-use counts: 0.257 → </a:t>
            </a:r>
            <a:r>
              <a:rPr sz="2000" b="1">
                <a:solidFill>
                  <a:srgbClr val="0072B2"/>
                </a:solidFill>
                <a:latin typeface="Calibri"/>
              </a:rPr>
              <a:t>0.080</a:t>
            </a:r>
            <a:r>
              <a:rPr sz="2000" b="0">
                <a:solidFill>
                  <a:srgbClr val="1A1A1A"/>
                </a:solidFill>
                <a:latin typeface="Calibri"/>
              </a:rPr>
              <a:t> (same AUC loss at random†: 0.164); it works by lowering 20–39 TPR (0.468 → 0.245): no remedy</a:t>
            </a:r>
          </a:p>
          <a:p>
            <a:pPr algn="l" marL="292608" indent="-292608">
              <a:lnSpc>
                <a:spcPct val="100000"/>
              </a:lnSpc>
              <a:spcAft>
                <a:spcPts val="1200"/>
              </a:spcAft>
              <a:buClr>
                <a:srgbClr val="0072B2"/>
              </a:buClr>
              <a:buFont typeface="Arial"/>
              <a:buChar char="•"/>
            </a:pPr>
            <a:r>
              <a:rPr sz="2000" b="0">
                <a:solidFill>
                  <a:srgbClr val="1A1A1A"/>
                </a:solidFill>
                <a:latin typeface="Calibri"/>
              </a:rPr>
              <a:t>Without age: 0.187; other inputs predict age band (ROC-AUC 0.773)</a:t>
            </a:r>
          </a:p>
        </p:txBody>
      </p:sp>
      <p:sp>
        <p:nvSpPr>
          <p:cNvPr id="7" name="TextBox 6"/>
          <p:cNvSpPr txBox="1"/>
          <p:nvPr/>
        </p:nvSpPr>
        <p:spPr>
          <a:xfrm>
            <a:off x="10545775" y="6400800"/>
            <a:ext cx="1097280" cy="320040"/>
          </a:xfrm>
          <a:prstGeom prst="rect">
            <a:avLst/>
          </a:prstGeom>
          <a:noFill/>
        </p:spPr>
        <p:txBody>
          <a:bodyPr wrap="square" anchor="t" lIns="36576" rIns="36576" tIns="36576" bIns="36576">
            <a:spAutoFit/>
          </a:bodyPr>
          <a:lstStyle/>
          <a:p>
            <a:pPr algn="r">
              <a:lnSpc>
                <a:spcPct val="100000"/>
              </a:lnSpc>
              <a:spcAft>
                <a:spcPts val="0"/>
              </a:spcAft>
            </a:pPr>
            <a:r>
              <a:rPr sz="1200" b="0">
                <a:solidFill>
                  <a:srgbClr val="5F5F5F"/>
                </a:solidFill>
                <a:latin typeface="Calibri"/>
              </a:rPr>
              <a:t>6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868680"/>
          </a:xfrm>
          <a:prstGeom prst="rect">
            <a:avLst/>
          </a:prstGeom>
          <a:noFill/>
        </p:spPr>
        <p:txBody>
          <a:bodyPr wrap="square" anchor="b" lIns="36576" rIns="36576" tIns="36576" bIns="36576">
            <a:spAutoFit/>
          </a:bodyPr>
          <a:lstStyle/>
          <a:p>
            <a:pPr algn="l">
              <a:lnSpc>
                <a:spcPct val="100000"/>
              </a:lnSpc>
              <a:spcAft>
                <a:spcPts val="0"/>
              </a:spcAft>
            </a:pPr>
            <a:r>
              <a:rPr sz="3000" b="1">
                <a:solidFill>
                  <a:srgbClr val="1A1A1A"/>
                </a:solidFill>
                <a:latin typeface="Calibri"/>
              </a:rPr>
              <a:t>The mitigations that close the gap do so by levelling down</a:t>
            </a:r>
          </a:p>
        </p:txBody>
      </p:sp>
      <p:sp>
        <p:nvSpPr>
          <p:cNvPr id="3" name="Rectangle 2"/>
          <p:cNvSpPr/>
          <p:nvPr/>
        </p:nvSpPr>
        <p:spPr>
          <a:xfrm>
            <a:off x="548640" y="1243584"/>
            <a:ext cx="1188720" cy="6400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9601200" cy="320040"/>
          </a:xfrm>
          <a:prstGeom prst="rect">
            <a:avLst/>
          </a:prstGeom>
          <a:noFill/>
        </p:spPr>
        <p:txBody>
          <a:bodyPr wrap="square" anchor="t" lIns="36576" rIns="36576" tIns="36576" bIns="36576">
            <a:spAutoFit/>
          </a:bodyPr>
          <a:lstStyle/>
          <a:p>
            <a:pPr algn="l">
              <a:lnSpc>
                <a:spcPct val="100000"/>
              </a:lnSpc>
              <a:spcAft>
                <a:spcPts val="0"/>
              </a:spcAft>
            </a:pPr>
            <a:r>
              <a:rPr sz="1200" b="0">
                <a:solidFill>
                  <a:srgbClr val="5F5F5F"/>
                </a:solidFill>
                <a:latin typeface="Calibri"/>
              </a:rPr>
              <a:t>Source: approved_mitigation.md §1–§3, §5.1, §7 · outputs/approved/mitigation.json · † = addition beyond the approved proposal</a:t>
            </a:r>
          </a:p>
        </p:txBody>
      </p:sp>
      <p:pic>
        <p:nvPicPr>
          <p:cNvPr id="5" name="Picture 4" descr="mitigation.png"/>
          <p:cNvPicPr>
            <a:picLocks noChangeAspect="1"/>
          </p:cNvPicPr>
          <p:nvPr/>
        </p:nvPicPr>
        <p:blipFill>
          <a:blip r:embed="rId3"/>
          <a:stretch>
            <a:fillRect/>
          </a:stretch>
        </p:blipFill>
        <p:spPr>
          <a:xfrm>
            <a:off x="457200" y="1475131"/>
            <a:ext cx="5577840" cy="4410657"/>
          </a:xfrm>
          <a:prstGeom prst="rect">
            <a:avLst/>
          </a:prstGeom>
        </p:spPr>
      </p:pic>
      <p:sp>
        <p:nvSpPr>
          <p:cNvPr id="6" name="TextBox 5"/>
          <p:cNvSpPr txBox="1"/>
          <p:nvPr/>
        </p:nvSpPr>
        <p:spPr>
          <a:xfrm>
            <a:off x="548640" y="5916168"/>
            <a:ext cx="5577840" cy="365760"/>
          </a:xfrm>
          <a:prstGeom prst="rect">
            <a:avLst/>
          </a:prstGeom>
          <a:noFill/>
        </p:spPr>
        <p:txBody>
          <a:bodyPr wrap="square" anchor="t" lIns="36576" rIns="36576" tIns="36576" bIns="36576">
            <a:spAutoFit/>
          </a:bodyPr>
          <a:lstStyle/>
          <a:p>
            <a:pPr algn="ctr">
              <a:lnSpc>
                <a:spcPct val="100000"/>
              </a:lnSpc>
              <a:spcAft>
                <a:spcPts val="0"/>
              </a:spcAft>
            </a:pPr>
            <a:r>
              <a:rPr sz="1600" b="0">
                <a:solidFill>
                  <a:srgbClr val="5F5F5F"/>
                </a:solidFill>
                <a:latin typeface="Calibri"/>
              </a:rPr>
              <a:t>Filled markers flag ≈ q %, hollow ≈ 36 %: compare within each set</a:t>
            </a:r>
          </a:p>
        </p:txBody>
      </p:sp>
      <p:sp>
        <p:nvSpPr>
          <p:cNvPr id="7" name="TextBox 6"/>
          <p:cNvSpPr txBox="1"/>
          <p:nvPr/>
        </p:nvSpPr>
        <p:spPr>
          <a:xfrm>
            <a:off x="6309360" y="1508760"/>
            <a:ext cx="5333695" cy="3703320"/>
          </a:xfrm>
          <a:prstGeom prst="rect">
            <a:avLst/>
          </a:prstGeom>
          <a:noFill/>
        </p:spPr>
        <p:txBody>
          <a:bodyPr wrap="square" anchor="t" lIns="36576" rIns="36576" tIns="36576" bIns="36576">
            <a:spAutoFit/>
          </a:bodyPr>
          <a:lstStyle/>
          <a:p>
            <a:pPr algn="l" marL="292608" indent="-292608">
              <a:lnSpc>
                <a:spcPct val="100000"/>
              </a:lnSpc>
              <a:spcAft>
                <a:spcPts val="1200"/>
              </a:spcAft>
              <a:buClr>
                <a:srgbClr val="0072B2"/>
              </a:buClr>
              <a:buFont typeface="Arial"/>
              <a:buChar char="•"/>
            </a:pPr>
            <a:r>
              <a:rPr sz="2000" b="0">
                <a:solidFill>
                  <a:srgbClr val="1A1A1A"/>
                </a:solidFill>
                <a:latin typeface="Calibri"/>
              </a:rPr>
              <a:t>K&amp;C reweighing widens it: 0.257 → 0.293</a:t>
            </a:r>
          </a:p>
          <a:p>
            <a:pPr algn="l" marL="292608" indent="-292608">
              <a:lnSpc>
                <a:spcPct val="100000"/>
              </a:lnSpc>
              <a:spcAft>
                <a:spcPts val="1200"/>
              </a:spcAft>
              <a:buClr>
                <a:srgbClr val="0072B2"/>
              </a:buClr>
              <a:buFont typeface="Arial"/>
              <a:buChar char="•"/>
            </a:pPr>
            <a:r>
              <a:rPr sz="2000" b="0">
                <a:solidFill>
                  <a:srgbClr val="1A1A1A"/>
                </a:solidFill>
                <a:latin typeface="Calibri"/>
              </a:rPr>
              <a:t>Cell balancing: 0.257 → 0.146 (−0.111); balancing race cells cuts it more (−0.124): mostly class balancing</a:t>
            </a:r>
          </a:p>
          <a:p>
            <a:pPr algn="l" marL="292608" indent="-292608">
              <a:lnSpc>
                <a:spcPct val="100000"/>
              </a:lnSpc>
              <a:spcAft>
                <a:spcPts val="1200"/>
              </a:spcAft>
              <a:buClr>
                <a:srgbClr val="0072B2"/>
              </a:buClr>
              <a:buFont typeface="Arial"/>
              <a:buChar char="•"/>
            </a:pPr>
            <a:r>
              <a:rPr sz="2000" b="0">
                <a:solidFill>
                  <a:srgbClr val="1A1A1A"/>
                </a:solidFill>
                <a:latin typeface="Calibri"/>
              </a:rPr>
              <a:t>EO at capacity† (vs same 80 % model, same number flagged): 0.250 → </a:t>
            </a:r>
            <a:r>
              <a:rPr sz="2000" b="1">
                <a:solidFill>
                  <a:srgbClr val="0072B2"/>
                </a:solidFill>
                <a:latin typeface="Calibri"/>
              </a:rPr>
              <a:t>0.018</a:t>
            </a:r>
            <a:r>
              <a:rPr sz="2000" b="0">
                <a:solidFill>
                  <a:srgbClr val="1A1A1A"/>
                </a:solidFill>
                <a:latin typeface="Calibri"/>
              </a:rPr>
              <a:t>; TPR 20–39 0.457 → </a:t>
            </a:r>
            <a:r>
              <a:rPr sz="2000" b="1">
                <a:solidFill>
                  <a:srgbClr val="0072B2"/>
                </a:solidFill>
                <a:latin typeface="Calibri"/>
              </a:rPr>
              <a:t>0.222</a:t>
            </a:r>
            <a:r>
              <a:rPr sz="2000" b="0">
                <a:solidFill>
                  <a:srgbClr val="1A1A1A"/>
                </a:solidFill>
                <a:latin typeface="Calibri"/>
              </a:rPr>
              <a:t>, 80+ 0.207 → 0.204</a:t>
            </a:r>
          </a:p>
          <a:p>
            <a:pPr algn="l" marL="292608" indent="-292608">
              <a:lnSpc>
                <a:spcPct val="100000"/>
              </a:lnSpc>
              <a:spcAft>
                <a:spcPts val="1200"/>
              </a:spcAft>
              <a:buClr>
                <a:srgbClr val="0072B2"/>
              </a:buClr>
              <a:buFont typeface="Arial"/>
              <a:buChar char="•"/>
            </a:pPr>
            <a:r>
              <a:rPr sz="2000" b="0">
                <a:solidFill>
                  <a:srgbClr val="1A1A1A"/>
                </a:solidFill>
                <a:latin typeface="Calibri"/>
              </a:rPr>
              <a:t>ThresholdOptimizer (vs one Youden threshold; both flag ≈ 36 %): 0.188 → 0.018; every age band falls (20–39 0.668 → 0.510)</a:t>
            </a:r>
          </a:p>
        </p:txBody>
      </p:sp>
      <p:sp>
        <p:nvSpPr>
          <p:cNvPr id="8" name="Rectangle 7"/>
          <p:cNvSpPr/>
          <p:nvPr/>
        </p:nvSpPr>
        <p:spPr>
          <a:xfrm>
            <a:off x="6309360" y="5303520"/>
            <a:ext cx="5333695" cy="96012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5440680"/>
            <a:ext cx="5059375" cy="685800"/>
          </a:xfrm>
          <a:prstGeom prst="rect">
            <a:avLst/>
          </a:prstGeom>
          <a:noFill/>
        </p:spPr>
        <p:txBody>
          <a:bodyPr wrap="square" anchor="ctr" lIns="36576" rIns="36576" tIns="36576" bIns="36576">
            <a:spAutoFit/>
          </a:bodyPr>
          <a:lstStyle/>
          <a:p>
            <a:pPr algn="ctr">
              <a:lnSpc>
                <a:spcPct val="100000"/>
              </a:lnSpc>
              <a:spcAft>
                <a:spcPts val="400"/>
              </a:spcAft>
            </a:pPr>
            <a:r>
              <a:rPr sz="2000" b="1">
                <a:solidFill>
                  <a:srgbClr val="FFFFFF"/>
                </a:solidFill>
                <a:latin typeface="Calibri"/>
              </a:rPr>
              <a:t>Neither post-processor raises any age band's TPR: levelling down, not a fix</a:t>
            </a:r>
          </a:p>
        </p:txBody>
      </p:sp>
      <p:sp>
        <p:nvSpPr>
          <p:cNvPr id="10" name="TextBox 9"/>
          <p:cNvSpPr txBox="1"/>
          <p:nvPr/>
        </p:nvSpPr>
        <p:spPr>
          <a:xfrm>
            <a:off x="10545775" y="6400800"/>
            <a:ext cx="1097280" cy="320040"/>
          </a:xfrm>
          <a:prstGeom prst="rect">
            <a:avLst/>
          </a:prstGeom>
          <a:noFill/>
        </p:spPr>
        <p:txBody>
          <a:bodyPr wrap="square" anchor="t" lIns="36576" rIns="36576" tIns="36576" bIns="36576">
            <a:spAutoFit/>
          </a:bodyPr>
          <a:lstStyle/>
          <a:p>
            <a:pPr algn="r">
              <a:lnSpc>
                <a:spcPct val="100000"/>
              </a:lnSpc>
              <a:spcAft>
                <a:spcPts val="0"/>
              </a:spcAft>
            </a:pPr>
            <a:r>
              <a:rPr sz="1200" b="0">
                <a:solidFill>
                  <a:srgbClr val="5F5F5F"/>
                </a:solidFill>
                <a:latin typeface="Calibri"/>
              </a:rPr>
              <a:t>7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868680"/>
          </a:xfrm>
          <a:prstGeom prst="rect">
            <a:avLst/>
          </a:prstGeom>
          <a:noFill/>
        </p:spPr>
        <p:txBody>
          <a:bodyPr wrap="square" anchor="b" lIns="36576" rIns="36576" tIns="36576" bIns="36576">
            <a:spAutoFit/>
          </a:bodyPr>
          <a:lstStyle/>
          <a:p>
            <a:pPr algn="l">
              <a:lnSpc>
                <a:spcPct val="100000"/>
              </a:lnSpc>
              <a:spcAft>
                <a:spcPts val="0"/>
              </a:spcAft>
            </a:pPr>
            <a:r>
              <a:rPr sz="3000" b="1">
                <a:solidFill>
                  <a:srgbClr val="1A1A1A"/>
                </a:solidFill>
                <a:latin typeface="Calibri"/>
              </a:rPr>
              <a:t>Glucose race gaps are largely, not wholly, a recording pattern</a:t>
            </a:r>
          </a:p>
        </p:txBody>
      </p:sp>
      <p:sp>
        <p:nvSpPr>
          <p:cNvPr id="3" name="Rectangle 2"/>
          <p:cNvSpPr/>
          <p:nvPr/>
        </p:nvSpPr>
        <p:spPr>
          <a:xfrm>
            <a:off x="548640" y="1243584"/>
            <a:ext cx="1188720" cy="6400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9601200" cy="320040"/>
          </a:xfrm>
          <a:prstGeom prst="rect">
            <a:avLst/>
          </a:prstGeom>
          <a:noFill/>
        </p:spPr>
        <p:txBody>
          <a:bodyPr wrap="square" anchor="t" lIns="36576" rIns="36576" tIns="36576" bIns="36576">
            <a:spAutoFit/>
          </a:bodyPr>
          <a:lstStyle/>
          <a:p>
            <a:pPr algn="l">
              <a:lnSpc>
                <a:spcPct val="100000"/>
              </a:lnSpc>
              <a:spcAft>
                <a:spcPts val="0"/>
              </a:spcAft>
            </a:pPr>
            <a:r>
              <a:rPr sz="1200" b="0">
                <a:solidFill>
                  <a:srgbClr val="5F5F5F"/>
                </a:solidFill>
                <a:latin typeface="Calibri"/>
              </a:rPr>
              <a:t>Source: approved_ordering.md §2, §4 · outputs/approved/ordering.json · † = addition beyond the approved proposal</a:t>
            </a:r>
          </a:p>
        </p:txBody>
      </p:sp>
      <p:pic>
        <p:nvPicPr>
          <p:cNvPr id="5" name="Picture 4" descr="ordering.png"/>
          <p:cNvPicPr>
            <a:picLocks noChangeAspect="1"/>
          </p:cNvPicPr>
          <p:nvPr/>
        </p:nvPicPr>
        <p:blipFill>
          <a:blip r:embed="rId3"/>
          <a:stretch>
            <a:fillRect/>
          </a:stretch>
        </p:blipFill>
        <p:spPr>
          <a:xfrm>
            <a:off x="457200" y="1471670"/>
            <a:ext cx="6675120" cy="4829059"/>
          </a:xfrm>
          <a:prstGeom prst="rect">
            <a:avLst/>
          </a:prstGeom>
        </p:spPr>
      </p:pic>
      <p:sp>
        <p:nvSpPr>
          <p:cNvPr id="6" name="TextBox 5"/>
          <p:cNvSpPr txBox="1"/>
          <p:nvPr/>
        </p:nvSpPr>
        <p:spPr>
          <a:xfrm>
            <a:off x="7406640" y="1508760"/>
            <a:ext cx="4236415" cy="4846320"/>
          </a:xfrm>
          <a:prstGeom prst="rect">
            <a:avLst/>
          </a:prstGeom>
          <a:noFill/>
        </p:spPr>
        <p:txBody>
          <a:bodyPr wrap="square" anchor="t" lIns="36576" rIns="36576" tIns="36576" bIns="36576">
            <a:spAutoFit/>
          </a:bodyPr>
          <a:lstStyle/>
          <a:p>
            <a:pPr algn="l" marL="292608" indent="-292608">
              <a:lnSpc>
                <a:spcPct val="100000"/>
              </a:lnSpc>
              <a:spcAft>
                <a:spcPts val="1200"/>
              </a:spcAft>
              <a:buClr>
                <a:srgbClr val="0072B2"/>
              </a:buClr>
              <a:buFont typeface="Arial"/>
              <a:buChar char="•"/>
            </a:pPr>
            <a:r>
              <a:rPr sz="2000" b="1">
                <a:solidFill>
                  <a:srgbClr val="0072B2"/>
                </a:solidFill>
                <a:latin typeface="Calibri"/>
              </a:rPr>
              <a:t>79.7 %</a:t>
            </a:r>
            <a:r>
              <a:rPr sz="2000" b="0">
                <a:solidFill>
                  <a:srgbClr val="1A1A1A"/>
                </a:solidFill>
                <a:latin typeface="Calibri"/>
              </a:rPr>
              <a:t> of glucose results come from the </a:t>
            </a:r>
            <a:r>
              <a:rPr sz="2000" b="1">
                <a:solidFill>
                  <a:srgbClr val="0072B2"/>
                </a:solidFill>
                <a:latin typeface="Calibri"/>
              </a:rPr>
              <a:t>10.2 %</a:t>
            </a:r>
            <a:r>
              <a:rPr sz="2000" b="0">
                <a:solidFill>
                  <a:srgbClr val="1A1A1A"/>
                </a:solidFill>
                <a:latin typeface="Calibri"/>
              </a:rPr>
              <a:t> of encounters with unknown admission type</a:t>
            </a:r>
          </a:p>
          <a:p>
            <a:pPr algn="l" marL="292608" indent="-292608">
              <a:lnSpc>
                <a:spcPct val="100000"/>
              </a:lnSpc>
              <a:spcAft>
                <a:spcPts val="1200"/>
              </a:spcAft>
              <a:buClr>
                <a:srgbClr val="0072B2"/>
              </a:buClr>
              <a:buFont typeface="Arial"/>
              <a:buChar char="•"/>
            </a:pPr>
            <a:r>
              <a:rPr sz="2000" b="0">
                <a:solidFill>
                  <a:srgbClr val="1A1A1A"/>
                </a:solidFill>
                <a:latin typeface="Calibri"/>
              </a:rPr>
              <a:t>With that indicator (post hoc sensitivity fit†, not tested):</a:t>
            </a:r>
          </a:p>
          <a:p>
            <a:pPr algn="l" marL="292608" indent="-292608">
              <a:lnSpc>
                <a:spcPct val="100000"/>
              </a:lnSpc>
              <a:spcAft>
                <a:spcPts val="1200"/>
              </a:spcAft>
              <a:buClr>
                <a:srgbClr val="0072B2"/>
              </a:buClr>
              <a:buFont typeface="Arial"/>
              <a:buChar char="•"/>
            </a:pPr>
            <a:r>
              <a:rPr sz="2000" b="0">
                <a:solidFill>
                  <a:srgbClr val="1A1A1A"/>
                </a:solidFill>
                <a:latin typeface="Calibri"/>
              </a:rPr>
              <a:t>Hispanic excess vanishes: 1.66 → </a:t>
            </a:r>
            <a:r>
              <a:rPr sz="2000" b="1">
                <a:solidFill>
                  <a:srgbClr val="0072B2"/>
                </a:solidFill>
                <a:latin typeface="Calibri"/>
              </a:rPr>
              <a:t>1.10</a:t>
            </a:r>
            <a:r>
              <a:rPr sz="2000" b="0">
                <a:solidFill>
                  <a:srgbClr val="1A1A1A"/>
                </a:solidFill>
                <a:latin typeface="Calibri"/>
              </a:rPr>
              <a:t> [0.84, 1.43]</a:t>
            </a:r>
          </a:p>
          <a:p>
            <a:pPr algn="l" marL="292608" indent="-292608">
              <a:lnSpc>
                <a:spcPct val="100000"/>
              </a:lnSpc>
              <a:spcAft>
                <a:spcPts val="1200"/>
              </a:spcAft>
              <a:buClr>
                <a:srgbClr val="0072B2"/>
              </a:buClr>
              <a:buFont typeface="Arial"/>
              <a:buChar char="•"/>
            </a:pPr>
            <a:r>
              <a:rPr sz="2000" b="0">
                <a:solidFill>
                  <a:srgbClr val="1A1A1A"/>
                </a:solidFill>
                <a:latin typeface="Calibri"/>
              </a:rPr>
              <a:t>African American deficit shrinks but remains: 0.41 → </a:t>
            </a:r>
            <a:r>
              <a:rPr sz="2000" b="1">
                <a:solidFill>
                  <a:srgbClr val="0072B2"/>
                </a:solidFill>
                <a:latin typeface="Calibri"/>
              </a:rPr>
              <a:t>0.58</a:t>
            </a:r>
            <a:r>
              <a:rPr sz="2000" b="0">
                <a:solidFill>
                  <a:srgbClr val="1A1A1A"/>
                </a:solidFill>
                <a:latin typeface="Calibri"/>
              </a:rPr>
              <a:t> [0.50, 0.68]</a:t>
            </a:r>
          </a:p>
          <a:p>
            <a:pPr algn="l" marL="292608" indent="-292608">
              <a:lnSpc>
                <a:spcPct val="100000"/>
              </a:lnSpc>
              <a:spcAft>
                <a:spcPts val="1200"/>
              </a:spcAft>
              <a:buClr>
                <a:srgbClr val="0072B2"/>
              </a:buClr>
              <a:buFont typeface="Arial"/>
              <a:buChar char="•"/>
            </a:pPr>
            <a:r>
              <a:rPr sz="2000" b="0">
                <a:solidFill>
                  <a:srgbClr val="1A1A1A"/>
                </a:solidFill>
                <a:latin typeface="Calibri"/>
              </a:rPr>
              <a:t>Odds ratios describe who has a recorded result; on their own they are not evidence of unequal care</a:t>
            </a:r>
          </a:p>
        </p:txBody>
      </p:sp>
      <p:sp>
        <p:nvSpPr>
          <p:cNvPr id="7" name="TextBox 6"/>
          <p:cNvSpPr txBox="1"/>
          <p:nvPr/>
        </p:nvSpPr>
        <p:spPr>
          <a:xfrm>
            <a:off x="10545775" y="6400800"/>
            <a:ext cx="1097280" cy="320040"/>
          </a:xfrm>
          <a:prstGeom prst="rect">
            <a:avLst/>
          </a:prstGeom>
          <a:noFill/>
        </p:spPr>
        <p:txBody>
          <a:bodyPr wrap="square" anchor="t" lIns="36576" rIns="36576" tIns="36576" bIns="36576">
            <a:spAutoFit/>
          </a:bodyPr>
          <a:lstStyle/>
          <a:p>
            <a:pPr algn="r">
              <a:lnSpc>
                <a:spcPct val="100000"/>
              </a:lnSpc>
              <a:spcAft>
                <a:spcPts val="0"/>
              </a:spcAft>
            </a:pPr>
            <a:r>
              <a:rPr sz="1200" b="0">
                <a:solidFill>
                  <a:srgbClr val="5F5F5F"/>
                </a:solidFill>
                <a:latin typeface="Calibri"/>
              </a:rPr>
              <a:t>8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868680"/>
          </a:xfrm>
          <a:prstGeom prst="rect">
            <a:avLst/>
          </a:prstGeom>
          <a:noFill/>
        </p:spPr>
        <p:txBody>
          <a:bodyPr wrap="square" anchor="b" lIns="36576" rIns="36576" tIns="36576" bIns="36576">
            <a:spAutoFit/>
          </a:bodyPr>
          <a:lstStyle/>
          <a:p>
            <a:pPr algn="l">
              <a:lnSpc>
                <a:spcPct val="100000"/>
              </a:lnSpc>
              <a:spcAft>
                <a:spcPts val="0"/>
              </a:spcAft>
            </a:pPr>
            <a:r>
              <a:rPr sz="3000" b="1">
                <a:solidFill>
                  <a:srgbClr val="1A1A1A"/>
                </a:solidFill>
                <a:latin typeface="Calibri"/>
              </a:rPr>
              <a:t>What a hospital should do with this model</a:t>
            </a:r>
          </a:p>
        </p:txBody>
      </p:sp>
      <p:sp>
        <p:nvSpPr>
          <p:cNvPr id="3" name="Rectangle 2"/>
          <p:cNvSpPr/>
          <p:nvPr/>
        </p:nvSpPr>
        <p:spPr>
          <a:xfrm>
            <a:off x="548640" y="1243584"/>
            <a:ext cx="1188720" cy="6400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9601200" cy="320040"/>
          </a:xfrm>
          <a:prstGeom prst="rect">
            <a:avLst/>
          </a:prstGeom>
          <a:noFill/>
        </p:spPr>
        <p:txBody>
          <a:bodyPr wrap="square" anchor="t" lIns="36576" rIns="36576" tIns="36576" bIns="36576">
            <a:spAutoFit/>
          </a:bodyPr>
          <a:lstStyle/>
          <a:p>
            <a:pPr algn="l">
              <a:lnSpc>
                <a:spcPct val="100000"/>
              </a:lnSpc>
              <a:spcAft>
                <a:spcPts val="0"/>
              </a:spcAft>
            </a:pPr>
            <a:r>
              <a:rPr sz="1200" b="0">
                <a:solidFill>
                  <a:srgbClr val="5F5F5F"/>
                </a:solidFill>
                <a:latin typeface="Calibri"/>
              </a:rPr>
              <a:t>Source: paper §Conclusions (deployment); approved_main.md §2; approved_mitigation.md §5.1, §7</a:t>
            </a:r>
          </a:p>
        </p:txBody>
      </p:sp>
      <p:sp>
        <p:nvSpPr>
          <p:cNvPr id="5" name="Rectangle 4"/>
          <p:cNvSpPr/>
          <p:nvPr/>
        </p:nvSpPr>
        <p:spPr>
          <a:xfrm>
            <a:off x="548640" y="1600200"/>
            <a:ext cx="5394960" cy="2194560"/>
          </a:xfrm>
          <a:prstGeom prst="rect">
            <a:avLst/>
          </a:prstGeom>
          <a:solidFill>
            <a:srgbClr val="E8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00200"/>
            <a:ext cx="109728" cy="219456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83080"/>
            <a:ext cx="4892040" cy="548640"/>
          </a:xfrm>
          <a:prstGeom prst="rect">
            <a:avLst/>
          </a:prstGeom>
          <a:noFill/>
        </p:spPr>
        <p:txBody>
          <a:bodyPr wrap="square" anchor="t" lIns="36576" rIns="36576" tIns="36576" bIns="36576">
            <a:spAutoFit/>
          </a:bodyPr>
          <a:lstStyle/>
          <a:p>
            <a:pPr algn="l">
              <a:lnSpc>
                <a:spcPct val="100000"/>
              </a:lnSpc>
              <a:spcAft>
                <a:spcPts val="0"/>
              </a:spcAft>
            </a:pPr>
            <a:r>
              <a:rPr sz="2400" b="1">
                <a:solidFill>
                  <a:srgbClr val="0072B2"/>
                </a:solidFill>
                <a:latin typeface="Calibri"/>
              </a:rPr>
              <a:t>1. Do not use it alone</a:t>
            </a:r>
          </a:p>
        </p:txBody>
      </p:sp>
      <p:sp>
        <p:nvSpPr>
          <p:cNvPr id="8" name="TextBox 7"/>
          <p:cNvSpPr txBox="1"/>
          <p:nvPr/>
        </p:nvSpPr>
        <p:spPr>
          <a:xfrm>
            <a:off x="868680" y="2423160"/>
            <a:ext cx="4892040" cy="1234440"/>
          </a:xfrm>
          <a:prstGeom prst="rect">
            <a:avLst/>
          </a:prstGeom>
          <a:noFill/>
        </p:spPr>
        <p:txBody>
          <a:bodyPr wrap="square" anchor="t" lIns="36576" rIns="36576" tIns="36576" bIns="36576">
            <a:spAutoFit/>
          </a:bodyPr>
          <a:lstStyle/>
          <a:p>
            <a:pPr algn="l">
              <a:lnSpc>
                <a:spcPct val="100000"/>
              </a:lnSpc>
              <a:spcAft>
                <a:spcPts val="0"/>
              </a:spcAft>
            </a:pPr>
            <a:r>
              <a:rPr sz="2000" b="0">
                <a:solidFill>
                  <a:srgbClr val="1A1A1A"/>
                </a:solidFill>
                <a:latin typeface="Calibri"/>
              </a:rPr>
              <a:t>PPV at capacity </a:t>
            </a:r>
            <a:r>
              <a:rPr sz="2000" b="1">
                <a:solidFill>
                  <a:srgbClr val="0072B2"/>
                </a:solidFill>
                <a:latin typeface="Calibri"/>
              </a:rPr>
              <a:t>0.252</a:t>
            </a:r>
            <a:r>
              <a:rPr sz="2000" b="0">
                <a:solidFill>
                  <a:srgbClr val="1A1A1A"/>
                </a:solidFill>
                <a:latin typeface="Calibri"/>
              </a:rPr>
              <a:t>; the gate needs more than 0.5.</a:t>
            </a:r>
          </a:p>
        </p:txBody>
      </p:sp>
      <p:sp>
        <p:nvSpPr>
          <p:cNvPr id="9" name="Rectangle 8"/>
          <p:cNvSpPr/>
          <p:nvPr/>
        </p:nvSpPr>
        <p:spPr>
          <a:xfrm>
            <a:off x="6217920" y="1600200"/>
            <a:ext cx="5394960" cy="2194560"/>
          </a:xfrm>
          <a:prstGeom prst="rect">
            <a:avLst/>
          </a:prstGeom>
          <a:solidFill>
            <a:srgbClr val="E8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600200"/>
            <a:ext cx="109728" cy="219456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783080"/>
            <a:ext cx="4892040" cy="548640"/>
          </a:xfrm>
          <a:prstGeom prst="rect">
            <a:avLst/>
          </a:prstGeom>
          <a:noFill/>
        </p:spPr>
        <p:txBody>
          <a:bodyPr wrap="square" anchor="t" lIns="36576" rIns="36576" tIns="36576" bIns="36576">
            <a:spAutoFit/>
          </a:bodyPr>
          <a:lstStyle/>
          <a:p>
            <a:pPr algn="l">
              <a:lnSpc>
                <a:spcPct val="100000"/>
              </a:lnSpc>
              <a:spcAft>
                <a:spcPts val="0"/>
              </a:spcAft>
            </a:pPr>
            <a:r>
              <a:rPr sz="2400" b="1">
                <a:solidFill>
                  <a:srgbClr val="0072B2"/>
                </a:solidFill>
                <a:latin typeface="Calibri"/>
              </a:rPr>
              <a:t>2. Report TPR by age band</a:t>
            </a:r>
          </a:p>
        </p:txBody>
      </p:sp>
      <p:sp>
        <p:nvSpPr>
          <p:cNvPr id="12" name="TextBox 11"/>
          <p:cNvSpPr txBox="1"/>
          <p:nvPr/>
        </p:nvSpPr>
        <p:spPr>
          <a:xfrm>
            <a:off x="6537960" y="2423160"/>
            <a:ext cx="4892040" cy="1234440"/>
          </a:xfrm>
          <a:prstGeom prst="rect">
            <a:avLst/>
          </a:prstGeom>
          <a:noFill/>
        </p:spPr>
        <p:txBody>
          <a:bodyPr wrap="square" anchor="t" lIns="36576" rIns="36576" tIns="36576" bIns="36576">
            <a:spAutoFit/>
          </a:bodyPr>
          <a:lstStyle/>
          <a:p>
            <a:pPr algn="l">
              <a:lnSpc>
                <a:spcPct val="100000"/>
              </a:lnSpc>
              <a:spcAft>
                <a:spcPts val="0"/>
              </a:spcAft>
            </a:pPr>
            <a:r>
              <a:rPr sz="2000" b="0">
                <a:solidFill>
                  <a:srgbClr val="1A1A1A"/>
                </a:solidFill>
                <a:latin typeface="Calibri"/>
              </a:rPr>
              <a:t>beside overall performance: </a:t>
            </a:r>
            <a:r>
              <a:rPr sz="2000" b="1">
                <a:solidFill>
                  <a:srgbClr val="0072B2"/>
                </a:solidFill>
                <a:latin typeface="Calibri"/>
              </a:rPr>
              <a:t>0.468</a:t>
            </a:r>
            <a:r>
              <a:rPr sz="2000" b="0">
                <a:solidFill>
                  <a:srgbClr val="1A1A1A"/>
                </a:solidFill>
                <a:latin typeface="Calibri"/>
              </a:rPr>
              <a:t> at 20–39 vs </a:t>
            </a:r>
            <a:r>
              <a:rPr sz="2000" b="1">
                <a:solidFill>
                  <a:srgbClr val="0072B2"/>
                </a:solidFill>
                <a:latin typeface="Calibri"/>
              </a:rPr>
              <a:t>0.211</a:t>
            </a:r>
            <a:r>
              <a:rPr sz="2000" b="0">
                <a:solidFill>
                  <a:srgbClr val="1A1A1A"/>
                </a:solidFill>
                <a:latin typeface="Calibri"/>
              </a:rPr>
              <a:t> at 80+.</a:t>
            </a:r>
          </a:p>
        </p:txBody>
      </p:sp>
      <p:sp>
        <p:nvSpPr>
          <p:cNvPr id="13" name="Rectangle 12"/>
          <p:cNvSpPr/>
          <p:nvPr/>
        </p:nvSpPr>
        <p:spPr>
          <a:xfrm>
            <a:off x="548640" y="4023360"/>
            <a:ext cx="5394960" cy="2194560"/>
          </a:xfrm>
          <a:prstGeom prst="rect">
            <a:avLst/>
          </a:prstGeom>
          <a:solidFill>
            <a:srgbClr val="E8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4023360"/>
            <a:ext cx="109728" cy="219456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206240"/>
            <a:ext cx="4892040" cy="548640"/>
          </a:xfrm>
          <a:prstGeom prst="rect">
            <a:avLst/>
          </a:prstGeom>
          <a:noFill/>
        </p:spPr>
        <p:txBody>
          <a:bodyPr wrap="square" anchor="t" lIns="36576" rIns="36576" tIns="36576" bIns="36576">
            <a:spAutoFit/>
          </a:bodyPr>
          <a:lstStyle/>
          <a:p>
            <a:pPr algn="l">
              <a:lnSpc>
                <a:spcPct val="100000"/>
              </a:lnSpc>
              <a:spcAft>
                <a:spcPts val="0"/>
              </a:spcAft>
            </a:pPr>
            <a:r>
              <a:rPr sz="2400" b="1">
                <a:solidFill>
                  <a:srgbClr val="0072B2"/>
                </a:solidFill>
                <a:latin typeface="Calibri"/>
              </a:rPr>
              <a:t>3. Equal TPR is a policy choice</a:t>
            </a:r>
          </a:p>
        </p:txBody>
      </p:sp>
      <p:sp>
        <p:nvSpPr>
          <p:cNvPr id="16" name="TextBox 15"/>
          <p:cNvSpPr txBox="1"/>
          <p:nvPr/>
        </p:nvSpPr>
        <p:spPr>
          <a:xfrm>
            <a:off x="868680" y="4846320"/>
            <a:ext cx="4892040" cy="1234440"/>
          </a:xfrm>
          <a:prstGeom prst="rect">
            <a:avLst/>
          </a:prstGeom>
          <a:noFill/>
        </p:spPr>
        <p:txBody>
          <a:bodyPr wrap="square" anchor="t" lIns="36576" rIns="36576" tIns="36576" bIns="36576">
            <a:spAutoFit/>
          </a:bodyPr>
          <a:lstStyle/>
          <a:p>
            <a:pPr algn="l">
              <a:lnSpc>
                <a:spcPct val="100000"/>
              </a:lnSpc>
              <a:spcAft>
                <a:spcPts val="0"/>
              </a:spcAft>
            </a:pPr>
            <a:r>
              <a:rPr sz="2000" b="0">
                <a:solidFill>
                  <a:srgbClr val="1A1A1A"/>
                </a:solidFill>
                <a:latin typeface="Calibri"/>
              </a:rPr>
              <a:t>at capacity it lowers young patients' TPR and raises no one's: a cost, not a fix.</a:t>
            </a:r>
          </a:p>
        </p:txBody>
      </p:sp>
      <p:sp>
        <p:nvSpPr>
          <p:cNvPr id="17" name="Rectangle 16"/>
          <p:cNvSpPr/>
          <p:nvPr/>
        </p:nvSpPr>
        <p:spPr>
          <a:xfrm>
            <a:off x="6217920" y="4023360"/>
            <a:ext cx="5394960" cy="2194560"/>
          </a:xfrm>
          <a:prstGeom prst="rect">
            <a:avLst/>
          </a:prstGeom>
          <a:solidFill>
            <a:srgbClr val="E8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4023360"/>
            <a:ext cx="109728" cy="219456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37960" y="4206240"/>
            <a:ext cx="4892040" cy="548640"/>
          </a:xfrm>
          <a:prstGeom prst="rect">
            <a:avLst/>
          </a:prstGeom>
          <a:noFill/>
        </p:spPr>
        <p:txBody>
          <a:bodyPr wrap="square" anchor="t" lIns="36576" rIns="36576" tIns="36576" bIns="36576">
            <a:spAutoFit/>
          </a:bodyPr>
          <a:lstStyle/>
          <a:p>
            <a:pPr algn="l">
              <a:lnSpc>
                <a:spcPct val="100000"/>
              </a:lnSpc>
              <a:spcAft>
                <a:spcPts val="0"/>
              </a:spcAft>
            </a:pPr>
            <a:r>
              <a:rPr sz="2400" b="1">
                <a:solidFill>
                  <a:srgbClr val="0072B2"/>
                </a:solidFill>
                <a:latin typeface="Calibri"/>
              </a:rPr>
              <a:t>4. Improve the data</a:t>
            </a:r>
          </a:p>
        </p:txBody>
      </p:sp>
      <p:sp>
        <p:nvSpPr>
          <p:cNvPr id="20" name="TextBox 19"/>
          <p:cNvSpPr txBox="1"/>
          <p:nvPr/>
        </p:nvSpPr>
        <p:spPr>
          <a:xfrm>
            <a:off x="6537960" y="4846320"/>
            <a:ext cx="4892040" cy="1234440"/>
          </a:xfrm>
          <a:prstGeom prst="rect">
            <a:avLst/>
          </a:prstGeom>
          <a:noFill/>
        </p:spPr>
        <p:txBody>
          <a:bodyPr wrap="square" anchor="t" lIns="36576" rIns="36576" tIns="36576" bIns="36576">
            <a:spAutoFit/>
          </a:bodyPr>
          <a:lstStyle/>
          <a:p>
            <a:pPr algn="l">
              <a:lnSpc>
                <a:spcPct val="100000"/>
              </a:lnSpc>
              <a:spcAft>
                <a:spcPts val="0"/>
              </a:spcAft>
            </a:pPr>
            <a:r>
              <a:rPr sz="2000" b="0">
                <a:solidFill>
                  <a:srgbClr val="1A1A1A"/>
                </a:solidFill>
                <a:latin typeface="Calibri"/>
              </a:rPr>
              <a:t>older patients' prior care; complete admission type and lab recording (not tested here).</a:t>
            </a:r>
          </a:p>
        </p:txBody>
      </p:sp>
      <p:sp>
        <p:nvSpPr>
          <p:cNvPr id="21" name="TextBox 20"/>
          <p:cNvSpPr txBox="1"/>
          <p:nvPr/>
        </p:nvSpPr>
        <p:spPr>
          <a:xfrm>
            <a:off x="10545775" y="6400800"/>
            <a:ext cx="1097280" cy="320040"/>
          </a:xfrm>
          <a:prstGeom prst="rect">
            <a:avLst/>
          </a:prstGeom>
          <a:noFill/>
        </p:spPr>
        <p:txBody>
          <a:bodyPr wrap="square" anchor="t" lIns="36576" rIns="36576" tIns="36576" bIns="36576">
            <a:spAutoFit/>
          </a:bodyPr>
          <a:lstStyle/>
          <a:p>
            <a:pPr algn="r">
              <a:lnSpc>
                <a:spcPct val="100000"/>
              </a:lnSpc>
              <a:spcAft>
                <a:spcPts val="0"/>
              </a:spcAft>
            </a:pPr>
            <a:r>
              <a:rPr sz="1200" b="0">
                <a:solidFill>
                  <a:srgbClr val="5F5F5F"/>
                </a:solidFill>
                <a:latin typeface="Calibri"/>
              </a:rPr>
              <a:t>9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868680"/>
          </a:xfrm>
          <a:prstGeom prst="rect">
            <a:avLst/>
          </a:prstGeom>
          <a:noFill/>
        </p:spPr>
        <p:txBody>
          <a:bodyPr wrap="square" anchor="b" lIns="36576" rIns="36576" tIns="36576" bIns="36576">
            <a:spAutoFit/>
          </a:bodyPr>
          <a:lstStyle/>
          <a:p>
            <a:pPr algn="l">
              <a:lnSpc>
                <a:spcPct val="100000"/>
              </a:lnSpc>
              <a:spcAft>
                <a:spcPts val="0"/>
              </a:spcAft>
            </a:pPr>
            <a:r>
              <a:rPr sz="3000" b="1">
                <a:solidFill>
                  <a:srgbClr val="1A1A1A"/>
                </a:solidFill>
                <a:latin typeface="Calibri"/>
              </a:rPr>
              <a:t>Limitations, and what I would do next</a:t>
            </a:r>
          </a:p>
        </p:txBody>
      </p:sp>
      <p:sp>
        <p:nvSpPr>
          <p:cNvPr id="3" name="Rectangle 2"/>
          <p:cNvSpPr/>
          <p:nvPr/>
        </p:nvSpPr>
        <p:spPr>
          <a:xfrm>
            <a:off x="548640" y="1243584"/>
            <a:ext cx="1188720" cy="6400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9601200" cy="320040"/>
          </a:xfrm>
          <a:prstGeom prst="rect">
            <a:avLst/>
          </a:prstGeom>
          <a:noFill/>
        </p:spPr>
        <p:txBody>
          <a:bodyPr wrap="square" anchor="t" lIns="36576" rIns="36576" tIns="36576" bIns="36576">
            <a:spAutoFit/>
          </a:bodyPr>
          <a:lstStyle/>
          <a:p>
            <a:pPr algn="l">
              <a:lnSpc>
                <a:spcPct val="100000"/>
              </a:lnSpc>
              <a:spcAft>
                <a:spcPts val="0"/>
              </a:spcAft>
            </a:pPr>
            <a:r>
              <a:rPr sz="1200" b="0">
                <a:solidFill>
                  <a:srgbClr val="5F5F5F"/>
                </a:solidFill>
                <a:latin typeface="Calibri"/>
              </a:rPr>
              <a:t>Source: paper §Conclusions (limitations); docs/APPROVED_PROPOSAL.md §5</a:t>
            </a:r>
          </a:p>
        </p:txBody>
      </p:sp>
      <p:sp>
        <p:nvSpPr>
          <p:cNvPr id="5" name="Rectangle 4"/>
          <p:cNvSpPr/>
          <p:nvPr/>
        </p:nvSpPr>
        <p:spPr>
          <a:xfrm>
            <a:off x="548640" y="1600200"/>
            <a:ext cx="5394960" cy="54864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00200"/>
            <a:ext cx="5029200" cy="548640"/>
          </a:xfrm>
          <a:prstGeom prst="rect">
            <a:avLst/>
          </a:prstGeom>
          <a:noFill/>
        </p:spPr>
        <p:txBody>
          <a:bodyPr wrap="square" anchor="ctr" lIns="36576" rIns="36576" tIns="36576" bIns="36576">
            <a:spAutoFit/>
          </a:bodyPr>
          <a:lstStyle/>
          <a:p>
            <a:pPr algn="l">
              <a:lnSpc>
                <a:spcPct val="100000"/>
              </a:lnSpc>
              <a:spcAft>
                <a:spcPts val="0"/>
              </a:spcAft>
            </a:pPr>
            <a:r>
              <a:rPr sz="2400" b="1">
                <a:solidFill>
                  <a:srgbClr val="FFFFFF"/>
                </a:solidFill>
                <a:latin typeface="Calibri"/>
              </a:rPr>
              <a:t>Limitations</a:t>
            </a:r>
          </a:p>
        </p:txBody>
      </p:sp>
      <p:sp>
        <p:nvSpPr>
          <p:cNvPr id="7" name="TextBox 6"/>
          <p:cNvSpPr txBox="1"/>
          <p:nvPr/>
        </p:nvSpPr>
        <p:spPr>
          <a:xfrm>
            <a:off x="640080" y="2331720"/>
            <a:ext cx="5212080" cy="2834640"/>
          </a:xfrm>
          <a:prstGeom prst="rect">
            <a:avLst/>
          </a:prstGeom>
          <a:noFill/>
        </p:spPr>
        <p:txBody>
          <a:bodyPr wrap="square" anchor="t" lIns="36576" rIns="36576" tIns="36576" bIns="36576">
            <a:spAutoFit/>
          </a:bodyPr>
          <a:lstStyle/>
          <a:p>
            <a:pPr algn="l" marL="292608" indent="-292608">
              <a:lnSpc>
                <a:spcPct val="100000"/>
              </a:lnSpc>
              <a:spcAft>
                <a:spcPts val="1200"/>
              </a:spcAft>
              <a:buClr>
                <a:srgbClr val="0072B2"/>
              </a:buClr>
              <a:buFont typeface="Arial"/>
              <a:buChar char="•"/>
            </a:pPr>
            <a:r>
              <a:rPr sz="2000" b="0">
                <a:solidFill>
                  <a:srgbClr val="1A1A1A"/>
                </a:solidFill>
                <a:latin typeface="Calibri"/>
              </a:rPr>
              <a:t>Hospital and period are not in the public file: standard errors and bootstrap clustered by patient only</a:t>
            </a:r>
          </a:p>
          <a:p>
            <a:pPr algn="l" marL="292608" indent="-292608">
              <a:lnSpc>
                <a:spcPct val="100000"/>
              </a:lnSpc>
              <a:spcAft>
                <a:spcPts val="1200"/>
              </a:spcAft>
              <a:buClr>
                <a:srgbClr val="0072B2"/>
              </a:buClr>
              <a:buFont typeface="Arial"/>
              <a:buChar char="•"/>
            </a:pPr>
            <a:r>
              <a:rPr sz="2000" b="0">
                <a:solidFill>
                  <a:srgbClr val="1A1A1A"/>
                </a:solidFill>
                <a:latin typeface="Calibri"/>
              </a:rPr>
              <a:t>Intervals are conditional on the fitted models</a:t>
            </a:r>
          </a:p>
          <a:p>
            <a:pPr algn="l" marL="292608" indent="-292608">
              <a:lnSpc>
                <a:spcPct val="100000"/>
              </a:lnSpc>
              <a:spcAft>
                <a:spcPts val="1200"/>
              </a:spcAft>
              <a:buClr>
                <a:srgbClr val="0072B2"/>
              </a:buClr>
              <a:buFont typeface="Arial"/>
              <a:buChar char="•"/>
            </a:pPr>
            <a:r>
              <a:rPr sz="2000" b="0">
                <a:solidFill>
                  <a:srgbClr val="1A1A1A"/>
                </a:solidFill>
                <a:latin typeface="Calibri"/>
              </a:rPr>
              <a:t>“Result recorded” is a proxy for “test ordered”</a:t>
            </a:r>
          </a:p>
          <a:p>
            <a:pPr algn="l" marL="292608" indent="-292608">
              <a:lnSpc>
                <a:spcPct val="100000"/>
              </a:lnSpc>
              <a:spcAft>
                <a:spcPts val="1200"/>
              </a:spcAft>
              <a:buClr>
                <a:srgbClr val="0072B2"/>
              </a:buClr>
              <a:buFont typeface="Arial"/>
              <a:buChar char="•"/>
            </a:pPr>
            <a:r>
              <a:rPr sz="2000" b="0">
                <a:solidFill>
                  <a:srgbClr val="1A1A1A"/>
                </a:solidFill>
                <a:latin typeface="Calibri"/>
              </a:rPr>
              <a:t>Method changed mid-project (new proposal approved); admission-type fit post hoc</a:t>
            </a:r>
          </a:p>
        </p:txBody>
      </p:sp>
      <p:sp>
        <p:nvSpPr>
          <p:cNvPr id="8" name="Rectangle 7"/>
          <p:cNvSpPr/>
          <p:nvPr/>
        </p:nvSpPr>
        <p:spPr>
          <a:xfrm>
            <a:off x="6217920" y="1600200"/>
            <a:ext cx="5394960" cy="54864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5029200" cy="548640"/>
          </a:xfrm>
          <a:prstGeom prst="rect">
            <a:avLst/>
          </a:prstGeom>
          <a:noFill/>
        </p:spPr>
        <p:txBody>
          <a:bodyPr wrap="square" anchor="ctr" lIns="36576" rIns="36576" tIns="36576" bIns="36576">
            <a:spAutoFit/>
          </a:bodyPr>
          <a:lstStyle/>
          <a:p>
            <a:pPr algn="l">
              <a:lnSpc>
                <a:spcPct val="100000"/>
              </a:lnSpc>
              <a:spcAft>
                <a:spcPts val="0"/>
              </a:spcAft>
            </a:pPr>
            <a:r>
              <a:rPr sz="2400" b="1">
                <a:solidFill>
                  <a:srgbClr val="FFFFFF"/>
                </a:solidFill>
                <a:latin typeface="Calibri"/>
              </a:rPr>
              <a:t>Next steps</a:t>
            </a:r>
          </a:p>
        </p:txBody>
      </p:sp>
      <p:sp>
        <p:nvSpPr>
          <p:cNvPr id="10" name="TextBox 9"/>
          <p:cNvSpPr txBox="1"/>
          <p:nvPr/>
        </p:nvSpPr>
        <p:spPr>
          <a:xfrm>
            <a:off x="6309360" y="2331720"/>
            <a:ext cx="5212080" cy="2834640"/>
          </a:xfrm>
          <a:prstGeom prst="rect">
            <a:avLst/>
          </a:prstGeom>
          <a:noFill/>
        </p:spPr>
        <p:txBody>
          <a:bodyPr wrap="square" anchor="t" lIns="36576" rIns="36576" tIns="36576" bIns="36576">
            <a:spAutoFit/>
          </a:bodyPr>
          <a:lstStyle/>
          <a:p>
            <a:pPr algn="l" marL="292608" indent="-292608">
              <a:lnSpc>
                <a:spcPct val="100000"/>
              </a:lnSpc>
              <a:spcAft>
                <a:spcPts val="1200"/>
              </a:spcAft>
              <a:buClr>
                <a:srgbClr val="0072B2"/>
              </a:buClr>
              <a:buFont typeface="Arial"/>
              <a:buChar char="•"/>
            </a:pPr>
            <a:r>
              <a:rPr sz="2000" b="0">
                <a:solidFill>
                  <a:srgbClr val="1A1A1A"/>
                </a:solidFill>
                <a:latin typeface="Calibri"/>
              </a:rPr>
              <a:t>Validate on data with hospital and period identifiers</a:t>
            </a:r>
          </a:p>
          <a:p>
            <a:pPr algn="l" marL="292608" indent="-292608">
              <a:lnSpc>
                <a:spcPct val="100000"/>
              </a:lnSpc>
              <a:spcAft>
                <a:spcPts val="1200"/>
              </a:spcAft>
              <a:buClr>
                <a:srgbClr val="0072B2"/>
              </a:buClr>
              <a:buFont typeface="Arial"/>
              <a:buChar char="•"/>
            </a:pPr>
            <a:r>
              <a:rPr sz="2000" b="0">
                <a:solidFill>
                  <a:srgbClr val="1A1A1A"/>
                </a:solidFill>
                <a:latin typeface="Calibri"/>
              </a:rPr>
              <a:t>Improve the ranking for older patients (e.g. richer prior-care data) instead of post-processing</a:t>
            </a:r>
          </a:p>
          <a:p>
            <a:pPr algn="l" marL="292608" indent="-292608">
              <a:lnSpc>
                <a:spcPct val="100000"/>
              </a:lnSpc>
              <a:spcAft>
                <a:spcPts val="1200"/>
              </a:spcAft>
              <a:buClr>
                <a:srgbClr val="0072B2"/>
              </a:buClr>
              <a:buFont typeface="Arial"/>
              <a:buChar char="•"/>
            </a:pPr>
            <a:r>
              <a:rPr sz="2000" b="0">
                <a:solidFill>
                  <a:srgbClr val="1A1A1A"/>
                </a:solidFill>
                <a:latin typeface="Calibri"/>
              </a:rPr>
              <a:t>Agree q with the hospital and report the whole capacity curve (q = 5–30 % already computed)</a:t>
            </a:r>
          </a:p>
        </p:txBody>
      </p:sp>
      <p:sp>
        <p:nvSpPr>
          <p:cNvPr id="11" name="Rectangle 10"/>
          <p:cNvSpPr/>
          <p:nvPr/>
        </p:nvSpPr>
        <p:spPr>
          <a:xfrm>
            <a:off x="548640" y="5394960"/>
            <a:ext cx="11094415" cy="868680"/>
          </a:xfrm>
          <a:prstGeom prst="rect">
            <a:avLst/>
          </a:prstGeom>
          <a:solidFill>
            <a:srgbClr val="FFFFFF"/>
          </a:solidFill>
          <a:ln w="2540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577840"/>
            <a:ext cx="10728655" cy="502920"/>
          </a:xfrm>
          <a:prstGeom prst="rect">
            <a:avLst/>
          </a:prstGeom>
          <a:noFill/>
        </p:spPr>
        <p:txBody>
          <a:bodyPr wrap="square" anchor="ctr" lIns="36576" rIns="36576" tIns="36576" bIns="36576">
            <a:spAutoFit/>
          </a:bodyPr>
          <a:lstStyle/>
          <a:p>
            <a:pPr algn="l">
              <a:lnSpc>
                <a:spcPct val="100000"/>
              </a:lnSpc>
              <a:spcAft>
                <a:spcPts val="400"/>
              </a:spcAft>
            </a:pPr>
            <a:r>
              <a:rPr sz="2000" b="1">
                <a:solidFill>
                  <a:srgbClr val="0072B2"/>
                </a:solidFill>
                <a:latin typeface="Calibri"/>
              </a:rPr>
              <a:t>Take-home:</a:t>
            </a:r>
            <a:r>
              <a:rPr sz="2000" b="0">
                <a:solidFill>
                  <a:srgbClr val="1A1A1A"/>
                </a:solidFill>
                <a:latin typeface="Calibri"/>
              </a:rPr>
              <a:t> the model ranks better than chance but is not usable alone; its errors differ by age; equalising them by post-processing is levelling down.</a:t>
            </a:r>
          </a:p>
        </p:txBody>
      </p:sp>
      <p:sp>
        <p:nvSpPr>
          <p:cNvPr id="13" name="TextBox 12"/>
          <p:cNvSpPr txBox="1"/>
          <p:nvPr/>
        </p:nvSpPr>
        <p:spPr>
          <a:xfrm>
            <a:off x="10545775" y="6400800"/>
            <a:ext cx="1097280" cy="320040"/>
          </a:xfrm>
          <a:prstGeom prst="rect">
            <a:avLst/>
          </a:prstGeom>
          <a:noFill/>
        </p:spPr>
        <p:txBody>
          <a:bodyPr wrap="square" anchor="t" lIns="36576" rIns="36576" tIns="36576" bIns="36576">
            <a:spAutoFit/>
          </a:bodyPr>
          <a:lstStyle/>
          <a:p>
            <a:pPr algn="r">
              <a:lnSpc>
                <a:spcPct val="100000"/>
              </a:lnSpc>
              <a:spcAft>
                <a:spcPts val="0"/>
              </a:spcAft>
            </a:pPr>
            <a:r>
              <a:rPr sz="1200" b="0">
                <a:solidFill>
                  <a:srgbClr val="5F5F5F"/>
                </a:solidFill>
                <a:latin typeface="Calibri"/>
              </a:rPr>
              <a:t>10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868680"/>
          </a:xfrm>
          <a:prstGeom prst="rect">
            <a:avLst/>
          </a:prstGeom>
          <a:noFill/>
        </p:spPr>
        <p:txBody>
          <a:bodyPr wrap="square" anchor="b" lIns="36576" rIns="36576" tIns="36576" bIns="36576">
            <a:spAutoFit/>
          </a:bodyPr>
          <a:lstStyle/>
          <a:p>
            <a:pPr algn="l">
              <a:lnSpc>
                <a:spcPct val="100000"/>
              </a:lnSpc>
              <a:spcAft>
                <a:spcPts val="0"/>
              </a:spcAft>
            </a:pPr>
            <a:r>
              <a:rPr sz="3000" b="1">
                <a:solidFill>
                  <a:srgbClr val="1A1A1A"/>
                </a:solidFill>
                <a:latin typeface="Calibri"/>
              </a:rPr>
              <a:t>Backup: how to reproduce every number</a:t>
            </a:r>
          </a:p>
        </p:txBody>
      </p:sp>
      <p:sp>
        <p:nvSpPr>
          <p:cNvPr id="3" name="Rectangle 2"/>
          <p:cNvSpPr/>
          <p:nvPr/>
        </p:nvSpPr>
        <p:spPr>
          <a:xfrm>
            <a:off x="548640" y="1243584"/>
            <a:ext cx="1188720" cy="64008"/>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9601200" cy="320040"/>
          </a:xfrm>
          <a:prstGeom prst="rect">
            <a:avLst/>
          </a:prstGeom>
          <a:noFill/>
        </p:spPr>
        <p:txBody>
          <a:bodyPr wrap="square" anchor="t" lIns="36576" rIns="36576" tIns="36576" bIns="36576">
            <a:spAutoFit/>
          </a:bodyPr>
          <a:lstStyle/>
          <a:p>
            <a:pPr algn="l">
              <a:lnSpc>
                <a:spcPct val="100000"/>
              </a:lnSpc>
              <a:spcAft>
                <a:spcPts val="0"/>
              </a:spcAft>
            </a:pPr>
            <a:r>
              <a:rPr sz="1200" b="0">
                <a:solidFill>
                  <a:srgbClr val="5F5F5F"/>
                </a:solidFill>
                <a:latin typeface="Calibri"/>
              </a:rPr>
              <a:t>Source: README.md §Run; readmission/evaluate.py (fingerprint); slides/README.md</a:t>
            </a:r>
          </a:p>
        </p:txBody>
      </p:sp>
      <p:sp>
        <p:nvSpPr>
          <p:cNvPr id="5" name="TextBox 4"/>
          <p:cNvSpPr txBox="1"/>
          <p:nvPr/>
        </p:nvSpPr>
        <p:spPr>
          <a:xfrm>
            <a:off x="548640" y="1600200"/>
            <a:ext cx="11064240" cy="4572000"/>
          </a:xfrm>
          <a:prstGeom prst="rect">
            <a:avLst/>
          </a:prstGeom>
          <a:noFill/>
        </p:spPr>
        <p:txBody>
          <a:bodyPr wrap="square" anchor="t" lIns="36576" rIns="36576" tIns="36576" bIns="36576">
            <a:spAutoFit/>
          </a:bodyPr>
          <a:lstStyle/>
          <a:p>
            <a:pPr algn="l" marL="292608" indent="-292608">
              <a:lnSpc>
                <a:spcPct val="100000"/>
              </a:lnSpc>
              <a:spcAft>
                <a:spcPts val="1600"/>
              </a:spcAft>
              <a:buClr>
                <a:srgbClr val="0072B2"/>
              </a:buClr>
              <a:buFont typeface="Arial"/>
              <a:buChar char="•"/>
            </a:pPr>
            <a:r>
              <a:rPr sz="2000" b="0">
                <a:solidFill>
                  <a:srgbClr val="1A1A1A"/>
                </a:solidFill>
                <a:latin typeface="Calibri"/>
              </a:rPr>
              <a:t>Five scripts in order: </a:t>
            </a:r>
            <a:r>
              <a:rPr sz="2000" b="1">
                <a:solidFill>
                  <a:srgbClr val="0072B2"/>
                </a:solidFill>
                <a:latin typeface="Calibri"/>
              </a:rPr>
              <a:t>run_approved</a:t>
            </a:r>
            <a:r>
              <a:rPr sz="2000" b="0">
                <a:solidFill>
                  <a:srgbClr val="1A1A1A"/>
                </a:solidFill>
                <a:latin typeface="Calibri"/>
              </a:rPr>
              <a:t> → </a:t>
            </a:r>
            <a:r>
              <a:rPr sz="2000" b="1">
                <a:solidFill>
                  <a:srgbClr val="0072B2"/>
                </a:solidFill>
                <a:latin typeface="Calibri"/>
              </a:rPr>
              <a:t>run_fairness</a:t>
            </a:r>
            <a:r>
              <a:rPr sz="2000" b="0">
                <a:solidFill>
                  <a:srgbClr val="1A1A1A"/>
                </a:solidFill>
                <a:latin typeface="Calibri"/>
              </a:rPr>
              <a:t> → </a:t>
            </a:r>
            <a:r>
              <a:rPr sz="2000" b="1">
                <a:solidFill>
                  <a:srgbClr val="0072B2"/>
                </a:solidFill>
                <a:latin typeface="Calibri"/>
              </a:rPr>
              <a:t>run_mitigation</a:t>
            </a:r>
            <a:r>
              <a:rPr sz="2000" b="0">
                <a:solidFill>
                  <a:srgbClr val="1A1A1A"/>
                </a:solidFill>
                <a:latin typeface="Calibri"/>
              </a:rPr>
              <a:t> → </a:t>
            </a:r>
            <a:r>
              <a:rPr sz="2000" b="1">
                <a:solidFill>
                  <a:srgbClr val="0072B2"/>
                </a:solidFill>
                <a:latin typeface="Calibri"/>
              </a:rPr>
              <a:t>run_sources</a:t>
            </a:r>
            <a:r>
              <a:rPr sz="2000" b="0">
                <a:solidFill>
                  <a:srgbClr val="1A1A1A"/>
                </a:solidFill>
                <a:latin typeface="Calibri"/>
              </a:rPr>
              <a:t> → </a:t>
            </a:r>
            <a:r>
              <a:rPr sz="2000" b="1">
                <a:solidFill>
                  <a:srgbClr val="0072B2"/>
                </a:solidFill>
                <a:latin typeface="Calibri"/>
              </a:rPr>
              <a:t>run_ordering</a:t>
            </a:r>
            <a:r>
              <a:rPr sz="2000" b="0">
                <a:solidFill>
                  <a:srgbClr val="1A1A1A"/>
                </a:solidFill>
                <a:latin typeface="Calibri"/>
              </a:rPr>
              <a:t>; each writes outputs/reports/approved_*.md and outputs/approved/*.json</a:t>
            </a:r>
          </a:p>
          <a:p>
            <a:pPr algn="l" marL="292608" indent="-292608">
              <a:lnSpc>
                <a:spcPct val="100000"/>
              </a:lnSpc>
              <a:spcAft>
                <a:spcPts val="1600"/>
              </a:spcAft>
              <a:buClr>
                <a:srgbClr val="0072B2"/>
              </a:buClr>
              <a:buFont typeface="Arial"/>
              <a:buChar char="•"/>
            </a:pPr>
            <a:r>
              <a:rPr sz="2000" b="0">
                <a:solidFill>
                  <a:srgbClr val="1A1A1A"/>
                </a:solidFill>
                <a:latin typeface="Calibri"/>
              </a:rPr>
              <a:t>Checkpoints per outer split carry a fingerprint of settings, prediction code and cohort; a mismatch is refused, never mixed</a:t>
            </a:r>
          </a:p>
          <a:p>
            <a:pPr algn="l" marL="292608" indent="-292608">
              <a:lnSpc>
                <a:spcPct val="100000"/>
              </a:lnSpc>
              <a:spcAft>
                <a:spcPts val="1600"/>
              </a:spcAft>
              <a:buClr>
                <a:srgbClr val="0072B2"/>
              </a:buClr>
              <a:buFont typeface="Arial"/>
              <a:buChar char="•"/>
            </a:pPr>
            <a:r>
              <a:rPr sz="2000" b="0">
                <a:solidFill>
                  <a:srgbClr val="1A1A1A"/>
                </a:solidFill>
                <a:latin typeface="Calibri"/>
              </a:rPr>
              <a:t>Colab notebook: fits one outer split live and redraws every table and figure from the saved JSONs</a:t>
            </a:r>
          </a:p>
          <a:p>
            <a:pPr algn="l" marL="292608" indent="-292608">
              <a:lnSpc>
                <a:spcPct val="100000"/>
              </a:lnSpc>
              <a:spcAft>
                <a:spcPts val="1600"/>
              </a:spcAft>
              <a:buClr>
                <a:srgbClr val="0072B2"/>
              </a:buClr>
              <a:buFont typeface="Arial"/>
              <a:buChar char="•"/>
            </a:pPr>
            <a:r>
              <a:rPr sz="2000" b="0">
                <a:solidFill>
                  <a:srgbClr val="1A1A1A"/>
                </a:solidFill>
                <a:latin typeface="Calibri"/>
              </a:rPr>
              <a:t>pytest collects 86 tests for the approved protocol (tests/test_readmission_*.py)</a:t>
            </a:r>
          </a:p>
          <a:p>
            <a:pPr algn="l" marL="292608" indent="-292608">
              <a:lnSpc>
                <a:spcPct val="100000"/>
              </a:lnSpc>
              <a:spcAft>
                <a:spcPts val="1600"/>
              </a:spcAft>
              <a:buClr>
                <a:srgbClr val="0072B2"/>
              </a:buClr>
              <a:buFont typeface="Arial"/>
              <a:buChar char="•"/>
            </a:pPr>
            <a:r>
              <a:rPr sz="2000" b="0">
                <a:solidFill>
                  <a:srgbClr val="1A1A1A"/>
                </a:solidFill>
                <a:latin typeface="Calibri"/>
              </a:rPr>
              <a:t>Paper figures (scripts/make_figures.py) and these slides (slides/build_slides.py) read the same JSONs: no number typed by hand</a:t>
            </a:r>
          </a:p>
        </p:txBody>
      </p:sp>
      <p:sp>
        <p:nvSpPr>
          <p:cNvPr id="6" name="TextBox 5"/>
          <p:cNvSpPr txBox="1"/>
          <p:nvPr/>
        </p:nvSpPr>
        <p:spPr>
          <a:xfrm>
            <a:off x="10545775" y="6400800"/>
            <a:ext cx="1097280" cy="320040"/>
          </a:xfrm>
          <a:prstGeom prst="rect">
            <a:avLst/>
          </a:prstGeom>
          <a:noFill/>
        </p:spPr>
        <p:txBody>
          <a:bodyPr wrap="square" anchor="t" lIns="36576" rIns="36576" tIns="36576" bIns="36576">
            <a:spAutoFit/>
          </a:bodyPr>
          <a:lstStyle/>
          <a:p>
            <a:pPr algn="r">
              <a:lnSpc>
                <a:spcPct val="100000"/>
              </a:lnSpc>
              <a:spcAft>
                <a:spcPts val="0"/>
              </a:spcAft>
            </a:pPr>
            <a:r>
              <a:rPr sz="1200" b="0">
                <a:solidFill>
                  <a:srgbClr val="5F5F5F"/>
                </a:solidFill>
                <a:latin typeface="Calibri"/>
              </a:rPr>
              <a:t>11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Widescreen</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gets flagged?</dc:title>
  <dc:subject>A CRISP-DM fairness audit of 30-day readmission prediction</dc:subject>
  <dc:creator>Uygar Çatal</dc:creator>
  <cp:keywords/>
  <dc:description>Exam talk, built by slides/build_slides.py from outputs/approved/*.json</dc:description>
  <cp:lastModifiedBy>Uygar Çatal</cp:lastModifiedBy>
  <cp:revision>1</cp:revision>
  <dcterms:created xsi:type="dcterms:W3CDTF">2026-09-24T16:11:18Z</dcterms:created>
  <dcterms:modified xsi:type="dcterms:W3CDTF">2026-09-24T16:11:18Z</dcterms:modified>
  <cp:category/>
</cp:coreProperties>
</file>